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51B4E-A58A-5CD8-CF66-8178CAEFB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1D9F1B-8698-7A57-2E7F-EB16B3E8B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E3E5DE-4ADD-A3FE-C68E-6669AF7C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2009EF-9836-83A1-CFC1-F946EA03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486CB9-ED71-C82A-A635-962A13F6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2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A3C5B-69C2-F50B-E670-17115EE8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35886E-32CD-13F9-E4CE-F6EE085D5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53731E-8BD2-B543-247D-0616FC3B5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D1A42E-3804-BDB2-2EBD-6C1FAEDD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47A921-BE07-AFE7-905E-C1B8EE9F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97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F69AF-C7AA-AB18-39A9-216EBF2B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77B2E0-F681-2C4F-3371-9B43966AB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BF7E4E-6E86-F96F-56BB-D5CAFB4E8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D82621-AAB9-76BE-55B5-66316C28B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1FF7D5-1872-5973-FE2A-18F61372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88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6D7D7B-048E-C8D8-41D3-99CABA0E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92F226-71AB-F99A-62FF-28FA11CEA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88528A-FBDB-B6FA-D258-27F0E1E1C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BDDF06-3C5A-A338-85DA-023D10DCB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C844EB-6038-0559-FD74-DDEF4A51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216DD5-8823-504F-BC6B-3582645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5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86E59-5845-6FBF-D6EA-3B6160E24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A86D5D-651C-AAE8-48D6-1B7C45CFF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6546A0-B1BA-D3CA-8A58-8438E8B9F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6AC6543-56B5-82B2-8EF6-4EDBB5B33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86979B-C2F7-5AEB-355B-0951C194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13321D-A3DD-C68E-A286-BE1749E6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7EBD75-BCAE-1133-8B22-CA7FADA3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743D5B-0375-7B53-7797-AEC39390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789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3FCF7-D698-9B00-2BCD-1A1FC9C0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BB5B6D-4685-6CCA-FABD-CC2B3C819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64B0F6-D3B1-3A9D-8ECB-D75556F7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83497E-4228-EDCF-D85E-9B2E688CF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36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DB04EE-75F4-FB61-34D1-236439753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BE54A9-9082-65F9-2A2F-49863CCEA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1C3FEC-B962-FBDA-0546-8B5B5630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68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135F6-8C3C-FFDF-CA8E-F61B6CD1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6165A4-B2D9-28C4-DCB6-168ADFA45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91D8A4-1529-40ED-A6AE-2BDD444C9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0D66AE-4473-9724-DE04-FA6676D1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4B6E69-1DE0-2097-FED1-DB4CA5D1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8CA9E8-FB62-7A4A-E2CE-7AD3C813C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7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8CD1A-CB69-3E27-215A-92CFB9AE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F2F4A5B-2FEB-1834-2D39-00B2EDE83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33E013-A396-B70B-FC45-A7F424AC1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F53450-AEC3-778A-F141-7F80494B1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16D7C3-EDCC-61CA-BB4E-DAFD96E5A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5F0976-D4CB-123E-07F3-00173CAA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64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4EFA2D-4E09-873C-2229-564831013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E47010-D148-17BE-C55E-8B52E678A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704382-9A51-337D-C555-CBC58C02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873E63-4F72-AD27-C72E-AC9B2F3D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108B4-C860-03CC-F0E3-AC6C3BAF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1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3F78A5-FB66-2A04-2BB8-9523E5691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74C390-AB6B-F038-D9BA-FA1779814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166D41-75D4-3F83-AC56-E4408261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54E80-BA32-D9BF-4EB5-425AC95C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E102E-B455-A978-233B-314736BB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55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7F2191-ABEC-7F8B-E871-E3D747FDB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147944-230A-3973-0344-766201392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E86F6E-D38E-AB4B-D6E9-EFE98FDF7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DC417-787A-46AD-ABC0-17D737D7519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66DE57-3138-EF75-9BA2-7B56DAE25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45B077-B770-293F-BC6F-8F8DC5208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EA0BF-4B51-45AC-AC70-6808CB2EA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94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77B41A9-A9A4-A053-64F6-8090200D088E}"/>
              </a:ext>
            </a:extLst>
          </p:cNvPr>
          <p:cNvSpPr/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rgbClr val="242424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6B8C3-D8BC-85C4-FBAD-E528E1DC1665}"/>
              </a:ext>
            </a:extLst>
          </p:cNvPr>
          <p:cNvSpPr txBox="1"/>
          <p:nvPr/>
        </p:nvSpPr>
        <p:spPr>
          <a:xfrm>
            <a:off x="660400" y="939800"/>
            <a:ext cx="10414000" cy="74892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4200" b="1">
                <a:solidFill>
                  <a:srgbClr val="242424"/>
                </a:solidFill>
                <a:latin typeface="Malgun Gothic" panose="020B0503020000020004" pitchFamily="50" charset="-127"/>
              </a:rPr>
              <a:t>Desktop Survivors</a:t>
            </a:r>
            <a:endParaRPr lang="ko-KR" altLang="en-US" sz="4200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97F5B-1832-C2B3-CA78-561F3ADE4D0D}"/>
              </a:ext>
            </a:extLst>
          </p:cNvPr>
          <p:cNvSpPr txBox="1"/>
          <p:nvPr/>
        </p:nvSpPr>
        <p:spPr>
          <a:xfrm>
            <a:off x="711200" y="1854200"/>
            <a:ext cx="7112000" cy="4719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400" b="1">
                <a:solidFill>
                  <a:srgbClr val="4D4D4D"/>
                </a:solidFill>
                <a:latin typeface="Malgun Gothic" panose="020B0503020000020004" pitchFamily="50" charset="-127"/>
              </a:rPr>
              <a:t>책상 위 생존 로그라이트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6182B-F9B0-7505-748E-973AFDC47C67}"/>
              </a:ext>
            </a:extLst>
          </p:cNvPr>
          <p:cNvSpPr txBox="1"/>
          <p:nvPr/>
        </p:nvSpPr>
        <p:spPr>
          <a:xfrm>
            <a:off x="711200" y="2438400"/>
            <a:ext cx="91440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>
                <a:solidFill>
                  <a:srgbClr val="4D4D4D"/>
                </a:solidFill>
                <a:latin typeface="Malgun Gothic" panose="020B0503020000020004" pitchFamily="50" charset="-127"/>
              </a:rPr>
              <a:t>탑뷰 자동공격 생존형 기말 프로젝트 프로토타입 기획안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0D03D4-4473-CB46-2A5B-DFDF46E963CE}"/>
              </a:ext>
            </a:extLst>
          </p:cNvPr>
          <p:cNvSpPr/>
          <p:nvPr/>
        </p:nvSpPr>
        <p:spPr>
          <a:xfrm>
            <a:off x="7747000" y="1092200"/>
            <a:ext cx="2794000" cy="1473200"/>
          </a:xfrm>
          <a:prstGeom prst="rect">
            <a:avLst/>
          </a:prstGeom>
          <a:solidFill>
            <a:srgbClr val="D3C10C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EE2E03A-8DF8-9595-ECB8-AB3ABE12E51C}"/>
              </a:ext>
            </a:extLst>
          </p:cNvPr>
          <p:cNvSpPr/>
          <p:nvPr/>
        </p:nvSpPr>
        <p:spPr>
          <a:xfrm>
            <a:off x="8813800" y="1600200"/>
            <a:ext cx="431800" cy="431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76C947D-9394-CD07-F5AC-BEFBBE219E5C}"/>
              </a:ext>
            </a:extLst>
          </p:cNvPr>
          <p:cNvSpPr/>
          <p:nvPr/>
        </p:nvSpPr>
        <p:spPr>
          <a:xfrm>
            <a:off x="8204200" y="1447800"/>
            <a:ext cx="330200" cy="330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D0DBB73-0187-B59C-9668-E6575E94C53E}"/>
              </a:ext>
            </a:extLst>
          </p:cNvPr>
          <p:cNvSpPr/>
          <p:nvPr/>
        </p:nvSpPr>
        <p:spPr>
          <a:xfrm>
            <a:off x="9804400" y="1905000"/>
            <a:ext cx="330200" cy="330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E4BD7B-E725-39C2-D2E7-AFDF6C44F36B}"/>
              </a:ext>
            </a:extLst>
          </p:cNvPr>
          <p:cNvSpPr txBox="1"/>
          <p:nvPr/>
        </p:nvSpPr>
        <p:spPr>
          <a:xfrm>
            <a:off x="685800" y="5257800"/>
            <a:ext cx="10160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자동 공격으로 몰려오는 책상 위 위험 요소를 버틴다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467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1B294-CD99-40C9-F01C-1F7EF65459D8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CORE CONCEPT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8AF39-780D-C5E8-B49F-441690F18C28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게임 컨셉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C06445-628C-12B9-CF66-02D9E65F6788}"/>
              </a:ext>
            </a:extLst>
          </p:cNvPr>
          <p:cNvSpPr/>
          <p:nvPr/>
        </p:nvSpPr>
        <p:spPr>
          <a:xfrm>
            <a:off x="660400" y="1752600"/>
            <a:ext cx="4953000" cy="3708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857D1-97DF-870D-0A00-97397B02F646}"/>
              </a:ext>
            </a:extLst>
          </p:cNvPr>
          <p:cNvSpPr txBox="1"/>
          <p:nvPr/>
        </p:nvSpPr>
        <p:spPr>
          <a:xfrm>
            <a:off x="914400" y="2057400"/>
            <a:ext cx="4343400" cy="216469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장르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탑뷰 자동공격 생존 로그라이트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무대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거대한 전장처럼 변한 책상 위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플레이어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작아진 캐릭터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목표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제한 시간 동안 살아남거나 최종 보스를 처치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B36828-BFF7-783F-91C3-888904DF7B27}"/>
              </a:ext>
            </a:extLst>
          </p:cNvPr>
          <p:cNvSpPr/>
          <p:nvPr/>
        </p:nvSpPr>
        <p:spPr>
          <a:xfrm>
            <a:off x="6299200" y="1752600"/>
            <a:ext cx="4826000" cy="3708400"/>
          </a:xfrm>
          <a:prstGeom prst="rect">
            <a:avLst/>
          </a:prstGeom>
          <a:solidFill>
            <a:srgbClr val="242424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84DC69-AADC-CBA6-55CD-0EBF53A44449}"/>
              </a:ext>
            </a:extLst>
          </p:cNvPr>
          <p:cNvSpPr txBox="1"/>
          <p:nvPr/>
        </p:nvSpPr>
        <p:spPr>
          <a:xfrm>
            <a:off x="6680200" y="2082800"/>
            <a:ext cx="25400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b="1">
                <a:solidFill>
                  <a:srgbClr val="9BC2E6"/>
                </a:solidFill>
                <a:latin typeface="Malgun Gothic" panose="020B0503020000020004" pitchFamily="50" charset="-127"/>
              </a:rPr>
              <a:t>핵심 한 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CC1A3-9146-80A2-EC77-8A862D6AC491}"/>
              </a:ext>
            </a:extLst>
          </p:cNvPr>
          <p:cNvSpPr txBox="1"/>
          <p:nvPr/>
        </p:nvSpPr>
        <p:spPr>
          <a:xfrm>
            <a:off x="6680200" y="2641600"/>
            <a:ext cx="3860800" cy="15696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책상 위의 먼지</a:t>
            </a:r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클립</a:t>
            </a:r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, USB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오류가 몰려오는 상황에서 자동 공격과 랜덤 강화로 버티는 생존 게임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FC2787-0670-639B-1C0E-A88C207C530C}"/>
              </a:ext>
            </a:extLst>
          </p:cNvPr>
          <p:cNvSpPr txBox="1"/>
          <p:nvPr/>
        </p:nvSpPr>
        <p:spPr>
          <a:xfrm>
            <a:off x="6705600" y="4572000"/>
            <a:ext cx="3860800" cy="5950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1600">
                <a:solidFill>
                  <a:srgbClr val="E6E6E6"/>
                </a:solidFill>
                <a:latin typeface="Malgun Gothic" panose="020B0503020000020004" pitchFamily="50" charset="-127"/>
              </a:rPr>
              <a:t>방 구조를 줄이고</a:t>
            </a:r>
            <a:r>
              <a:rPr lang="en-US" altLang="ko-KR" sz="1600">
                <a:solidFill>
                  <a:srgbClr val="E6E6E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E6E6E6"/>
                </a:solidFill>
                <a:latin typeface="Malgun Gothic" panose="020B0503020000020004" pitchFamily="50" charset="-127"/>
              </a:rPr>
              <a:t>이동</a:t>
            </a:r>
            <a:r>
              <a:rPr lang="en-US" altLang="ko-KR" sz="1600">
                <a:solidFill>
                  <a:srgbClr val="E6E6E6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600">
                <a:solidFill>
                  <a:srgbClr val="E6E6E6"/>
                </a:solidFill>
                <a:latin typeface="Malgun Gothic" panose="020B0503020000020004" pitchFamily="50" charset="-127"/>
              </a:rPr>
              <a:t>회피</a:t>
            </a:r>
            <a:r>
              <a:rPr lang="en-US" altLang="ko-KR" sz="1600">
                <a:solidFill>
                  <a:srgbClr val="E6E6E6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600">
                <a:solidFill>
                  <a:srgbClr val="E6E6E6"/>
                </a:solidFill>
                <a:latin typeface="Malgun Gothic" panose="020B0503020000020004" pitchFamily="50" charset="-127"/>
              </a:rPr>
              <a:t>성장</a:t>
            </a:r>
            <a:r>
              <a:rPr lang="en-US" altLang="ko-KR" sz="1600">
                <a:solidFill>
                  <a:srgbClr val="E6E6E6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600">
                <a:solidFill>
                  <a:srgbClr val="E6E6E6"/>
                </a:solidFill>
                <a:latin typeface="Malgun Gothic" panose="020B0503020000020004" pitchFamily="50" charset="-127"/>
              </a:rPr>
              <a:t>웨이브에 집중한다</a:t>
            </a:r>
            <a:r>
              <a:rPr lang="en-US" altLang="ko-KR" sz="1600">
                <a:solidFill>
                  <a:srgbClr val="E6E6E6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E6E6E6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162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F88703-93A1-1C39-336C-8498B8586EB0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GAME LOOP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667B7-ED0E-3DE5-B4D3-3302765D51EE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핵심 플레이 루프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13CB8D-F373-850E-4677-A4062BFD7AC0}"/>
              </a:ext>
            </a:extLst>
          </p:cNvPr>
          <p:cNvSpPr/>
          <p:nvPr/>
        </p:nvSpPr>
        <p:spPr>
          <a:xfrm>
            <a:off x="558800" y="2006600"/>
            <a:ext cx="20066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F96DDDE-C478-0D2D-5B2D-74D74A9129FA}"/>
              </a:ext>
            </a:extLst>
          </p:cNvPr>
          <p:cNvSpPr/>
          <p:nvPr/>
        </p:nvSpPr>
        <p:spPr>
          <a:xfrm>
            <a:off x="1231900" y="2286000"/>
            <a:ext cx="635000" cy="6350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13C94A-1698-E3E6-F54A-50E4114F6E98}"/>
              </a:ext>
            </a:extLst>
          </p:cNvPr>
          <p:cNvSpPr txBox="1"/>
          <p:nvPr/>
        </p:nvSpPr>
        <p:spPr>
          <a:xfrm>
            <a:off x="1384300" y="2425700"/>
            <a:ext cx="30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242424"/>
                </a:solidFill>
                <a:latin typeface="Malgun Gothic" panose="020B0503020000020004" pitchFamily="50" charset="-127"/>
              </a:rPr>
              <a:t>1</a:t>
            </a:r>
            <a:endParaRPr lang="ko-KR" altLang="en-US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4FA133-6E16-5ADF-0E61-2CC0AC47E6AB}"/>
              </a:ext>
            </a:extLst>
          </p:cNvPr>
          <p:cNvSpPr txBox="1"/>
          <p:nvPr/>
        </p:nvSpPr>
        <p:spPr>
          <a:xfrm>
            <a:off x="762000" y="3124200"/>
            <a:ext cx="16002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b="1">
                <a:solidFill>
                  <a:srgbClr val="242424"/>
                </a:solidFill>
                <a:latin typeface="Malgun Gothic" panose="020B0503020000020004" pitchFamily="50" charset="-127"/>
              </a:rPr>
              <a:t>이동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57F9B-0E96-6223-AFE0-F0402A984C64}"/>
              </a:ext>
            </a:extLst>
          </p:cNvPr>
          <p:cNvSpPr txBox="1"/>
          <p:nvPr/>
        </p:nvSpPr>
        <p:spPr>
          <a:xfrm>
            <a:off x="787400" y="3632200"/>
            <a:ext cx="15494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플레이어는 </a:t>
            </a:r>
            <a:r>
              <a:rPr lang="en-US" altLang="ko-KR" sz="1300">
                <a:solidFill>
                  <a:srgbClr val="555555"/>
                </a:solidFill>
                <a:latin typeface="Malgun Gothic" panose="020B0503020000020004" pitchFamily="50" charset="-127"/>
              </a:rPr>
              <a:t>WASD</a:t>
            </a:r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로 회피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B483C7-9D3F-371C-188F-9F2AB27B958E}"/>
              </a:ext>
            </a:extLst>
          </p:cNvPr>
          <p:cNvSpPr/>
          <p:nvPr/>
        </p:nvSpPr>
        <p:spPr>
          <a:xfrm>
            <a:off x="2870200" y="2006600"/>
            <a:ext cx="20066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4017F38-7C83-6FE4-B787-95293F71109D}"/>
              </a:ext>
            </a:extLst>
          </p:cNvPr>
          <p:cNvSpPr/>
          <p:nvPr/>
        </p:nvSpPr>
        <p:spPr>
          <a:xfrm>
            <a:off x="3543300" y="2286000"/>
            <a:ext cx="635000" cy="6350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9FB74-2E90-8D2C-FCDE-73D06D03DE36}"/>
              </a:ext>
            </a:extLst>
          </p:cNvPr>
          <p:cNvSpPr txBox="1"/>
          <p:nvPr/>
        </p:nvSpPr>
        <p:spPr>
          <a:xfrm>
            <a:off x="3695700" y="2425700"/>
            <a:ext cx="30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242424"/>
                </a:solidFill>
                <a:latin typeface="Malgun Gothic" panose="020B0503020000020004" pitchFamily="50" charset="-127"/>
              </a:rPr>
              <a:t>2</a:t>
            </a:r>
            <a:endParaRPr lang="ko-KR" altLang="en-US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CE5CA-165C-1F7F-482A-9EC82F3E0ED9}"/>
              </a:ext>
            </a:extLst>
          </p:cNvPr>
          <p:cNvSpPr txBox="1"/>
          <p:nvPr/>
        </p:nvSpPr>
        <p:spPr>
          <a:xfrm>
            <a:off x="3073400" y="3124200"/>
            <a:ext cx="16002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b="1">
                <a:solidFill>
                  <a:srgbClr val="242424"/>
                </a:solidFill>
                <a:latin typeface="Malgun Gothic" panose="020B0503020000020004" pitchFamily="50" charset="-127"/>
              </a:rPr>
              <a:t>자동 공격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19E6FE-AEF7-8891-025C-0CDCD6B57B5B}"/>
              </a:ext>
            </a:extLst>
          </p:cNvPr>
          <p:cNvSpPr txBox="1"/>
          <p:nvPr/>
        </p:nvSpPr>
        <p:spPr>
          <a:xfrm>
            <a:off x="3098800" y="3632200"/>
            <a:ext cx="15494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가까운 적에게 연필심 발사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F8F311-39A2-3A8E-44D7-136BF9D332B1}"/>
              </a:ext>
            </a:extLst>
          </p:cNvPr>
          <p:cNvSpPr/>
          <p:nvPr/>
        </p:nvSpPr>
        <p:spPr>
          <a:xfrm>
            <a:off x="5181600" y="2006600"/>
            <a:ext cx="20066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7043D9F-74A0-152C-609F-8487BECCB824}"/>
              </a:ext>
            </a:extLst>
          </p:cNvPr>
          <p:cNvSpPr/>
          <p:nvPr/>
        </p:nvSpPr>
        <p:spPr>
          <a:xfrm>
            <a:off x="5854700" y="2286000"/>
            <a:ext cx="635000" cy="6350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704D8F-A9E5-54BB-2226-903184D90344}"/>
              </a:ext>
            </a:extLst>
          </p:cNvPr>
          <p:cNvSpPr txBox="1"/>
          <p:nvPr/>
        </p:nvSpPr>
        <p:spPr>
          <a:xfrm>
            <a:off x="6007100" y="2425700"/>
            <a:ext cx="30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242424"/>
                </a:solidFill>
                <a:latin typeface="Malgun Gothic" panose="020B0503020000020004" pitchFamily="50" charset="-127"/>
              </a:rPr>
              <a:t>3</a:t>
            </a:r>
            <a:endParaRPr lang="ko-KR" altLang="en-US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7B9D01-D223-5B51-F80D-A1CB0E7C43AB}"/>
              </a:ext>
            </a:extLst>
          </p:cNvPr>
          <p:cNvSpPr txBox="1"/>
          <p:nvPr/>
        </p:nvSpPr>
        <p:spPr>
          <a:xfrm>
            <a:off x="5384800" y="3124200"/>
            <a:ext cx="16002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b="1">
                <a:solidFill>
                  <a:srgbClr val="242424"/>
                </a:solidFill>
                <a:latin typeface="Malgun Gothic" panose="020B0503020000020004" pitchFamily="50" charset="-127"/>
              </a:rPr>
              <a:t>경험치 획득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988EDD-48F0-45A6-5C64-E0AE16A7D0F9}"/>
              </a:ext>
            </a:extLst>
          </p:cNvPr>
          <p:cNvSpPr txBox="1"/>
          <p:nvPr/>
        </p:nvSpPr>
        <p:spPr>
          <a:xfrm>
            <a:off x="5410200" y="3632200"/>
            <a:ext cx="15494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적 처치 후 조각 수집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1BF400-973E-4C01-4C0A-DDC8D9F0E3AC}"/>
              </a:ext>
            </a:extLst>
          </p:cNvPr>
          <p:cNvSpPr/>
          <p:nvPr/>
        </p:nvSpPr>
        <p:spPr>
          <a:xfrm>
            <a:off x="7493000" y="2006600"/>
            <a:ext cx="20066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D26FF16-F1CF-5F50-BEC4-029C8BCEF2D0}"/>
              </a:ext>
            </a:extLst>
          </p:cNvPr>
          <p:cNvSpPr/>
          <p:nvPr/>
        </p:nvSpPr>
        <p:spPr>
          <a:xfrm>
            <a:off x="8166100" y="2286000"/>
            <a:ext cx="635000" cy="6350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73D447-7F57-1C98-E297-231D506EC980}"/>
              </a:ext>
            </a:extLst>
          </p:cNvPr>
          <p:cNvSpPr txBox="1"/>
          <p:nvPr/>
        </p:nvSpPr>
        <p:spPr>
          <a:xfrm>
            <a:off x="8318500" y="2425700"/>
            <a:ext cx="30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242424"/>
                </a:solidFill>
                <a:latin typeface="Malgun Gothic" panose="020B0503020000020004" pitchFamily="50" charset="-127"/>
              </a:rPr>
              <a:t>4</a:t>
            </a:r>
            <a:endParaRPr lang="ko-KR" altLang="en-US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4BA525-D3E6-1E9C-FB67-B779B8E5D371}"/>
              </a:ext>
            </a:extLst>
          </p:cNvPr>
          <p:cNvSpPr txBox="1"/>
          <p:nvPr/>
        </p:nvSpPr>
        <p:spPr>
          <a:xfrm>
            <a:off x="7696200" y="3124200"/>
            <a:ext cx="16002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b="1">
                <a:solidFill>
                  <a:srgbClr val="242424"/>
                </a:solidFill>
                <a:latin typeface="Malgun Gothic" panose="020B0503020000020004" pitchFamily="50" charset="-127"/>
              </a:rPr>
              <a:t>레벨업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24D522-3993-4259-E59D-ACE9048BEB8F}"/>
              </a:ext>
            </a:extLst>
          </p:cNvPr>
          <p:cNvSpPr txBox="1"/>
          <p:nvPr/>
        </p:nvSpPr>
        <p:spPr>
          <a:xfrm>
            <a:off x="7721600" y="3632200"/>
            <a:ext cx="15494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강화 </a:t>
            </a:r>
            <a:r>
              <a:rPr lang="en-US" altLang="ko-KR" sz="1300">
                <a:solidFill>
                  <a:srgbClr val="555555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개 중 </a:t>
            </a:r>
            <a:r>
              <a:rPr lang="en-US" altLang="ko-KR" sz="1300">
                <a:solidFill>
                  <a:srgbClr val="555555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개 선택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D22144-0E66-9FF1-C30B-232E5DA130C4}"/>
              </a:ext>
            </a:extLst>
          </p:cNvPr>
          <p:cNvSpPr/>
          <p:nvPr/>
        </p:nvSpPr>
        <p:spPr>
          <a:xfrm>
            <a:off x="9804400" y="2006600"/>
            <a:ext cx="20066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01B23D7-50E1-799E-7EC4-C3669AFACF0F}"/>
              </a:ext>
            </a:extLst>
          </p:cNvPr>
          <p:cNvSpPr/>
          <p:nvPr/>
        </p:nvSpPr>
        <p:spPr>
          <a:xfrm>
            <a:off x="10477500" y="2286000"/>
            <a:ext cx="635000" cy="635000"/>
          </a:xfrm>
          <a:prstGeom prst="ellipse">
            <a:avLst/>
          </a:prstGeom>
          <a:solidFill>
            <a:srgbClr val="9BC2E6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C6181F-DCB5-A8C1-8952-761888471BDB}"/>
              </a:ext>
            </a:extLst>
          </p:cNvPr>
          <p:cNvSpPr txBox="1"/>
          <p:nvPr/>
        </p:nvSpPr>
        <p:spPr>
          <a:xfrm>
            <a:off x="10629900" y="2425700"/>
            <a:ext cx="30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ko-KR" b="1">
                <a:solidFill>
                  <a:srgbClr val="242424"/>
                </a:solidFill>
                <a:latin typeface="Malgun Gothic" panose="020B0503020000020004" pitchFamily="50" charset="-127"/>
              </a:rPr>
              <a:t>5</a:t>
            </a:r>
            <a:endParaRPr lang="ko-KR" altLang="en-US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7E132B-CF29-18BB-AA2B-996AB3C05440}"/>
              </a:ext>
            </a:extLst>
          </p:cNvPr>
          <p:cNvSpPr txBox="1"/>
          <p:nvPr/>
        </p:nvSpPr>
        <p:spPr>
          <a:xfrm>
            <a:off x="10007600" y="3124200"/>
            <a:ext cx="16002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b="1">
                <a:solidFill>
                  <a:srgbClr val="242424"/>
                </a:solidFill>
                <a:latin typeface="Malgun Gothic" panose="020B0503020000020004" pitchFamily="50" charset="-127"/>
              </a:rPr>
              <a:t>웨이브 상승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57BB35-ECD8-EA40-908C-74F86E722017}"/>
              </a:ext>
            </a:extLst>
          </p:cNvPr>
          <p:cNvSpPr txBox="1"/>
          <p:nvPr/>
        </p:nvSpPr>
        <p:spPr>
          <a:xfrm>
            <a:off x="10033000" y="3632200"/>
            <a:ext cx="15494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300">
                <a:solidFill>
                  <a:srgbClr val="555555"/>
                </a:solidFill>
                <a:latin typeface="Malgun Gothic" panose="020B0503020000020004" pitchFamily="50" charset="-127"/>
              </a:rPr>
              <a:t>시간이 갈수록 적 증가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07ABFA-9F60-B412-C4A9-C29DFCE7C2B9}"/>
              </a:ext>
            </a:extLst>
          </p:cNvPr>
          <p:cNvSpPr txBox="1"/>
          <p:nvPr/>
        </p:nvSpPr>
        <p:spPr>
          <a:xfrm>
            <a:off x="1143000" y="5156200"/>
            <a:ext cx="9906000" cy="4257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4D4D4D"/>
                </a:solidFill>
                <a:latin typeface="Malgun Gothic" panose="020B0503020000020004" pitchFamily="50" charset="-127"/>
              </a:rPr>
              <a:t>핵심 조작은 이동뿐이며</a:t>
            </a:r>
            <a:r>
              <a:rPr lang="en-US" altLang="ko-KR" sz="2100" b="1">
                <a:solidFill>
                  <a:srgbClr val="4D4D4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4D4D4D"/>
                </a:solidFill>
                <a:latin typeface="Malgun Gothic" panose="020B0503020000020004" pitchFamily="50" charset="-127"/>
              </a:rPr>
              <a:t>재미는 위치 선정과 성장 선택에서 나온다</a:t>
            </a:r>
            <a:r>
              <a:rPr lang="en-US" altLang="ko-KR" sz="21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21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7179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04A6B-A4D7-D23A-B932-E720EFEE6268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SURVIVAL FIELD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83E1F-93E2-E726-41EE-5B3ED9AA4B51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맵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5FCBD0-0255-C6D7-7DF3-683DCCD3446E}"/>
              </a:ext>
            </a:extLst>
          </p:cNvPr>
          <p:cNvSpPr/>
          <p:nvPr/>
        </p:nvSpPr>
        <p:spPr>
          <a:xfrm>
            <a:off x="812800" y="1676400"/>
            <a:ext cx="6096000" cy="3886200"/>
          </a:xfrm>
          <a:prstGeom prst="rect">
            <a:avLst/>
          </a:prstGeom>
          <a:solidFill>
            <a:srgbClr val="D3C10C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66FDC55-B6E7-6A99-AC99-61500DC88BD8}"/>
              </a:ext>
            </a:extLst>
          </p:cNvPr>
          <p:cNvSpPr/>
          <p:nvPr/>
        </p:nvSpPr>
        <p:spPr>
          <a:xfrm>
            <a:off x="1168400" y="20066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AE02A3E-8119-43F1-5E8A-1C30C256BA3F}"/>
              </a:ext>
            </a:extLst>
          </p:cNvPr>
          <p:cNvSpPr/>
          <p:nvPr/>
        </p:nvSpPr>
        <p:spPr>
          <a:xfrm>
            <a:off x="2095500" y="25273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4C34317-77FD-C1AC-0746-D9434A5A05EE}"/>
              </a:ext>
            </a:extLst>
          </p:cNvPr>
          <p:cNvSpPr/>
          <p:nvPr/>
        </p:nvSpPr>
        <p:spPr>
          <a:xfrm>
            <a:off x="3022600" y="30480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47B0B24-900D-6984-8496-33A18804E9BA}"/>
              </a:ext>
            </a:extLst>
          </p:cNvPr>
          <p:cNvSpPr/>
          <p:nvPr/>
        </p:nvSpPr>
        <p:spPr>
          <a:xfrm>
            <a:off x="3949700" y="35687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7B455AB-C115-6737-3B9A-75E206E27CDB}"/>
              </a:ext>
            </a:extLst>
          </p:cNvPr>
          <p:cNvSpPr/>
          <p:nvPr/>
        </p:nvSpPr>
        <p:spPr>
          <a:xfrm>
            <a:off x="4876800" y="40894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A542C87-0911-B0B1-789F-CBC9FFB87205}"/>
              </a:ext>
            </a:extLst>
          </p:cNvPr>
          <p:cNvSpPr/>
          <p:nvPr/>
        </p:nvSpPr>
        <p:spPr>
          <a:xfrm>
            <a:off x="5803900" y="46101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CEC823F-CB90-0828-6C0D-4F2DB5679E17}"/>
              </a:ext>
            </a:extLst>
          </p:cNvPr>
          <p:cNvSpPr/>
          <p:nvPr/>
        </p:nvSpPr>
        <p:spPr>
          <a:xfrm>
            <a:off x="1524000" y="20828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11A0B19-C9C4-CAF6-5688-34D2B5FED391}"/>
              </a:ext>
            </a:extLst>
          </p:cNvPr>
          <p:cNvSpPr/>
          <p:nvPr/>
        </p:nvSpPr>
        <p:spPr>
          <a:xfrm>
            <a:off x="2451100" y="26035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E2F6887-60E5-71EF-EDDE-52AD83F7A1DF}"/>
              </a:ext>
            </a:extLst>
          </p:cNvPr>
          <p:cNvSpPr/>
          <p:nvPr/>
        </p:nvSpPr>
        <p:spPr>
          <a:xfrm>
            <a:off x="3378200" y="31242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AFBFC4E-5481-83D8-CA5F-5F44B850A85D}"/>
              </a:ext>
            </a:extLst>
          </p:cNvPr>
          <p:cNvSpPr/>
          <p:nvPr/>
        </p:nvSpPr>
        <p:spPr>
          <a:xfrm>
            <a:off x="4305300" y="36449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D071734-08DC-D105-7473-73D7B54031B5}"/>
              </a:ext>
            </a:extLst>
          </p:cNvPr>
          <p:cNvSpPr/>
          <p:nvPr/>
        </p:nvSpPr>
        <p:spPr>
          <a:xfrm>
            <a:off x="5232400" y="41656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B5CD3F9-8069-086A-0E5F-F6B6FBB5E962}"/>
              </a:ext>
            </a:extLst>
          </p:cNvPr>
          <p:cNvSpPr/>
          <p:nvPr/>
        </p:nvSpPr>
        <p:spPr>
          <a:xfrm>
            <a:off x="6159500" y="46863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33C0197-BAF9-ECA1-F0CE-896556C7CAE9}"/>
              </a:ext>
            </a:extLst>
          </p:cNvPr>
          <p:cNvSpPr/>
          <p:nvPr/>
        </p:nvSpPr>
        <p:spPr>
          <a:xfrm>
            <a:off x="1879600" y="21590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66121F1-4C03-AAAE-9795-7ACF1789754B}"/>
              </a:ext>
            </a:extLst>
          </p:cNvPr>
          <p:cNvSpPr/>
          <p:nvPr/>
        </p:nvSpPr>
        <p:spPr>
          <a:xfrm>
            <a:off x="2806700" y="26797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65227D8-EE01-74E1-3214-1102764A4A94}"/>
              </a:ext>
            </a:extLst>
          </p:cNvPr>
          <p:cNvSpPr/>
          <p:nvPr/>
        </p:nvSpPr>
        <p:spPr>
          <a:xfrm>
            <a:off x="3733800" y="32004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5D9B4BA-1F5F-CC04-5140-D08804C284D7}"/>
              </a:ext>
            </a:extLst>
          </p:cNvPr>
          <p:cNvSpPr/>
          <p:nvPr/>
        </p:nvSpPr>
        <p:spPr>
          <a:xfrm>
            <a:off x="4660900" y="37211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2F909CD-C5A9-015D-483F-35F67CD476DB}"/>
              </a:ext>
            </a:extLst>
          </p:cNvPr>
          <p:cNvSpPr/>
          <p:nvPr/>
        </p:nvSpPr>
        <p:spPr>
          <a:xfrm>
            <a:off x="5588000" y="42418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5FC5E16-349C-37AC-C25A-28CC1C01FF8A}"/>
              </a:ext>
            </a:extLst>
          </p:cNvPr>
          <p:cNvSpPr/>
          <p:nvPr/>
        </p:nvSpPr>
        <p:spPr>
          <a:xfrm>
            <a:off x="1308100" y="47625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EC5A3D8-22ED-EFD3-535F-ED39D04DEBC0}"/>
              </a:ext>
            </a:extLst>
          </p:cNvPr>
          <p:cNvSpPr/>
          <p:nvPr/>
        </p:nvSpPr>
        <p:spPr>
          <a:xfrm>
            <a:off x="2235200" y="22352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77AC4AF-C39A-30BB-5188-E5B9AB0A3876}"/>
              </a:ext>
            </a:extLst>
          </p:cNvPr>
          <p:cNvSpPr/>
          <p:nvPr/>
        </p:nvSpPr>
        <p:spPr>
          <a:xfrm>
            <a:off x="3162300" y="27559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274A8D5-53A5-BA76-2DE2-07B3CEFF9E88}"/>
              </a:ext>
            </a:extLst>
          </p:cNvPr>
          <p:cNvSpPr/>
          <p:nvPr/>
        </p:nvSpPr>
        <p:spPr>
          <a:xfrm>
            <a:off x="4089400" y="32766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70FAC85-F7C2-BE05-CC2A-EA66EDD3693B}"/>
              </a:ext>
            </a:extLst>
          </p:cNvPr>
          <p:cNvSpPr/>
          <p:nvPr/>
        </p:nvSpPr>
        <p:spPr>
          <a:xfrm>
            <a:off x="5016500" y="37973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7AEA8FC-113A-E57E-7B30-87357C00E291}"/>
              </a:ext>
            </a:extLst>
          </p:cNvPr>
          <p:cNvSpPr/>
          <p:nvPr/>
        </p:nvSpPr>
        <p:spPr>
          <a:xfrm>
            <a:off x="5943600" y="43180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007B3973-02B1-8FE0-DC96-8F96864024E3}"/>
              </a:ext>
            </a:extLst>
          </p:cNvPr>
          <p:cNvSpPr/>
          <p:nvPr/>
        </p:nvSpPr>
        <p:spPr>
          <a:xfrm>
            <a:off x="1663700" y="4838700"/>
            <a:ext cx="203200" cy="203200"/>
          </a:xfrm>
          <a:prstGeom prst="ellipse">
            <a:avLst/>
          </a:prstGeom>
          <a:solidFill>
            <a:srgbClr val="888888"/>
          </a:solidFill>
          <a:ln w="15875">
            <a:solidFill>
              <a:srgbClr val="99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C5D0D89-FAE9-673C-54A5-1199BBDE32BD}"/>
              </a:ext>
            </a:extLst>
          </p:cNvPr>
          <p:cNvSpPr/>
          <p:nvPr/>
        </p:nvSpPr>
        <p:spPr>
          <a:xfrm>
            <a:off x="3708400" y="3429000"/>
            <a:ext cx="431800" cy="431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764182-39CF-2BF6-5F74-D5D51A04BD6C}"/>
              </a:ext>
            </a:extLst>
          </p:cNvPr>
          <p:cNvSpPr txBox="1"/>
          <p:nvPr/>
        </p:nvSpPr>
        <p:spPr>
          <a:xfrm>
            <a:off x="3073400" y="5207000"/>
            <a:ext cx="15240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333333"/>
                </a:solidFill>
                <a:latin typeface="Malgun Gothic" panose="020B0503020000020004" pitchFamily="50" charset="-127"/>
              </a:rPr>
              <a:t>책상 평지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A71959-5E0B-2D6F-4338-F87C0DE88815}"/>
              </a:ext>
            </a:extLst>
          </p:cNvPr>
          <p:cNvSpPr txBox="1"/>
          <p:nvPr/>
        </p:nvSpPr>
        <p:spPr>
          <a:xfrm>
            <a:off x="7569200" y="1879600"/>
            <a:ext cx="3810000" cy="274947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초기 구현은 넓은 평지 맵으로 시작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벽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문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방 이동 없이 회피와 전투 감각에 집중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나중에 키보드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노트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컵은 장식 장애물로 추가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카메라는 플레이어를 따라가고 맵은 충분히 크게 구성</a:t>
            </a:r>
          </a:p>
        </p:txBody>
      </p:sp>
    </p:spTree>
    <p:extLst>
      <p:ext uri="{BB962C8B-B14F-4D97-AF65-F5344CB8AC3E}">
        <p14:creationId xmlns:p14="http://schemas.microsoft.com/office/powerpoint/2010/main" val="236080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39A01-494A-8DB0-699F-BFDB732D4C0F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ENEMY WAVES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ACAA56-AD95-209B-CC0D-F42678FBE630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4.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적과 웨이브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4BAA2-BF2C-199D-6644-C0435A4CDB87}"/>
              </a:ext>
            </a:extLst>
          </p:cNvPr>
          <p:cNvSpPr txBox="1"/>
          <p:nvPr/>
        </p:nvSpPr>
        <p:spPr>
          <a:xfrm>
            <a:off x="787400" y="1727200"/>
            <a:ext cx="5842000" cy="19749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먼지 뭉치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기본 추적 적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클립 벌레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빠르게 접근하는 돌진형 적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USB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오류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느리지만 체력이 높은 적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지우개 가루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중반 이후 등장하는 탱커 적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스테이플러 보스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제한 시간 후 등장하는 최종 적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7557AE-1169-4AC2-DA92-0F43744A1488}"/>
              </a:ext>
            </a:extLst>
          </p:cNvPr>
          <p:cNvSpPr/>
          <p:nvPr/>
        </p:nvSpPr>
        <p:spPr>
          <a:xfrm>
            <a:off x="7493000" y="1854200"/>
            <a:ext cx="3175000" cy="2997200"/>
          </a:xfrm>
          <a:prstGeom prst="rect">
            <a:avLst/>
          </a:prstGeom>
          <a:solidFill>
            <a:srgbClr val="242424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55D85-8490-B9F1-363C-8092C773FA22}"/>
              </a:ext>
            </a:extLst>
          </p:cNvPr>
          <p:cNvSpPr txBox="1"/>
          <p:nvPr/>
        </p:nvSpPr>
        <p:spPr>
          <a:xfrm>
            <a:off x="7975600" y="2413000"/>
            <a:ext cx="22606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9BC2E6"/>
                </a:solidFill>
                <a:latin typeface="Malgun Gothic" panose="020B0503020000020004" pitchFamily="50" charset="-127"/>
              </a:rPr>
              <a:t>시간이 지날수록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10E4A-3E15-7D27-81F8-99DEAE70B1A5}"/>
              </a:ext>
            </a:extLst>
          </p:cNvPr>
          <p:cNvSpPr txBox="1"/>
          <p:nvPr/>
        </p:nvSpPr>
        <p:spPr>
          <a:xfrm>
            <a:off x="8001000" y="3073400"/>
            <a:ext cx="2209800" cy="132343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스폰 수 증가</a:t>
            </a:r>
          </a:p>
          <a:p>
            <a:pPr algn="ctr"/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이동속도 증가</a:t>
            </a:r>
          </a:p>
          <a:p>
            <a:pPr algn="ctr"/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새 적 타입 등장</a:t>
            </a:r>
          </a:p>
          <a:p>
            <a:pPr algn="ctr"/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보스 출현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1DFBC-0E69-2863-92D3-912F11C17FDF}"/>
              </a:ext>
            </a:extLst>
          </p:cNvPr>
          <p:cNvSpPr txBox="1"/>
          <p:nvPr/>
        </p:nvSpPr>
        <p:spPr>
          <a:xfrm>
            <a:off x="1244600" y="5689600"/>
            <a:ext cx="9652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처음에는 적 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종 추적 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접촉 데미지부터 안정화한다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9883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D3EB7-68C5-6E81-C8E7-70925AFC5272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AUTO ATTACK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A9445-E3EB-C4E6-FE9A-5E7229580715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5.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무기와 자동 공격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AB1A18-689B-17E1-1A10-6033F40E413B}"/>
              </a:ext>
            </a:extLst>
          </p:cNvPr>
          <p:cNvSpPr/>
          <p:nvPr/>
        </p:nvSpPr>
        <p:spPr>
          <a:xfrm>
            <a:off x="787400" y="1727200"/>
            <a:ext cx="3175000" cy="317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CD01E-F17B-CA56-009F-856B7D6F4A2F}"/>
              </a:ext>
            </a:extLst>
          </p:cNvPr>
          <p:cNvSpPr txBox="1"/>
          <p:nvPr/>
        </p:nvSpPr>
        <p:spPr>
          <a:xfrm>
            <a:off x="1219200" y="2082800"/>
            <a:ext cx="2286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242424"/>
                </a:solidFill>
                <a:latin typeface="Malgun Gothic" panose="020B0503020000020004" pitchFamily="50" charset="-127"/>
              </a:rPr>
              <a:t>연필심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38B2D-E302-492C-9EF3-9DB243554BFD}"/>
              </a:ext>
            </a:extLst>
          </p:cNvPr>
          <p:cNvSpPr txBox="1"/>
          <p:nvPr/>
        </p:nvSpPr>
        <p:spPr>
          <a:xfrm>
            <a:off x="1168400" y="2870200"/>
            <a:ext cx="2413000" cy="62581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가장 가까운 적에게 자동 발사되는 기본 무기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48DCC1-9A63-73FC-CDA0-9E5DCC614B4E}"/>
              </a:ext>
            </a:extLst>
          </p:cNvPr>
          <p:cNvSpPr/>
          <p:nvPr/>
        </p:nvSpPr>
        <p:spPr>
          <a:xfrm>
            <a:off x="4495800" y="1727200"/>
            <a:ext cx="3175000" cy="317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DC2BCD-7A73-768F-E3DD-B37C0F49AAB9}"/>
              </a:ext>
            </a:extLst>
          </p:cNvPr>
          <p:cNvSpPr txBox="1"/>
          <p:nvPr/>
        </p:nvSpPr>
        <p:spPr>
          <a:xfrm>
            <a:off x="4927600" y="2082800"/>
            <a:ext cx="2286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242424"/>
                </a:solidFill>
                <a:latin typeface="Malgun Gothic" panose="020B0503020000020004" pitchFamily="50" charset="-127"/>
              </a:rPr>
              <a:t>클립 부메랑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EF232-3840-2617-A1DB-9FAA3B803682}"/>
              </a:ext>
            </a:extLst>
          </p:cNvPr>
          <p:cNvSpPr txBox="1"/>
          <p:nvPr/>
        </p:nvSpPr>
        <p:spPr>
          <a:xfrm>
            <a:off x="4876800" y="2870200"/>
            <a:ext cx="2413000" cy="88742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플레이어 주변을 회전하거나 되돌아오는 보조 무기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22FD5D-F8DB-58E6-9411-4ABB311BA4A3}"/>
              </a:ext>
            </a:extLst>
          </p:cNvPr>
          <p:cNvSpPr/>
          <p:nvPr/>
        </p:nvSpPr>
        <p:spPr>
          <a:xfrm>
            <a:off x="8204200" y="1727200"/>
            <a:ext cx="3175000" cy="317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35C36-555B-AFA6-72A1-CC554AFE4DF3}"/>
              </a:ext>
            </a:extLst>
          </p:cNvPr>
          <p:cNvSpPr txBox="1"/>
          <p:nvPr/>
        </p:nvSpPr>
        <p:spPr>
          <a:xfrm>
            <a:off x="8636000" y="2082800"/>
            <a:ext cx="2286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242424"/>
                </a:solidFill>
                <a:latin typeface="Malgun Gothic" panose="020B0503020000020004" pitchFamily="50" charset="-127"/>
              </a:rPr>
              <a:t>지우개 파동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664F2F-AA6A-2A0C-FA3B-71546E427137}"/>
              </a:ext>
            </a:extLst>
          </p:cNvPr>
          <p:cNvSpPr txBox="1"/>
          <p:nvPr/>
        </p:nvSpPr>
        <p:spPr>
          <a:xfrm>
            <a:off x="8585200" y="2870200"/>
            <a:ext cx="2413000" cy="88742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1700">
                <a:solidFill>
                  <a:srgbClr val="333333"/>
                </a:solidFill>
                <a:latin typeface="Malgun Gothic" panose="020B0503020000020004" pitchFamily="50" charset="-127"/>
              </a:rPr>
              <a:t>일정 시간마다 주변 적을 밀어내는 생존형 무기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5FF6F-03B1-28F7-C5E6-C84F3CBC165C}"/>
              </a:ext>
            </a:extLst>
          </p:cNvPr>
          <p:cNvSpPr txBox="1"/>
          <p:nvPr/>
        </p:nvSpPr>
        <p:spPr>
          <a:xfrm>
            <a:off x="1117600" y="5410200"/>
            <a:ext cx="9906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프로토타입 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차는 연필심 자동 공격 하나만 구현한다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664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81A579-1CF3-8B94-B380-EB4412047E42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ROGUELITE BUILD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F6A18-F3BD-F5A7-C75D-42C5336EC7DC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6.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레벨업과 강화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E46B9-963A-6520-1C28-5C268FBAA7FE}"/>
              </a:ext>
            </a:extLst>
          </p:cNvPr>
          <p:cNvSpPr txBox="1"/>
          <p:nvPr/>
        </p:nvSpPr>
        <p:spPr>
          <a:xfrm>
            <a:off x="787400" y="1752600"/>
            <a:ext cx="6350000" cy="187230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적 처치 시 경험치 조각 드랍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경험치가 차면 게임이 잠시 멈추고 강화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택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1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표시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강화는 공격력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공격속도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탄환 수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이동속도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최대 체력 중심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매판 강화 조합이 달라져 반복 플레이 이유를 만든다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F7C96C-753D-229B-0073-04C5AB9C508E}"/>
              </a:ext>
            </a:extLst>
          </p:cNvPr>
          <p:cNvSpPr/>
          <p:nvPr/>
        </p:nvSpPr>
        <p:spPr>
          <a:xfrm>
            <a:off x="7874000" y="1879600"/>
            <a:ext cx="2921000" cy="2667000"/>
          </a:xfrm>
          <a:prstGeom prst="rect">
            <a:avLst/>
          </a:prstGeom>
          <a:solidFill>
            <a:srgbClr val="242424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D96BC-D72D-2E19-9B70-C907273FE89D}"/>
              </a:ext>
            </a:extLst>
          </p:cNvPr>
          <p:cNvSpPr txBox="1"/>
          <p:nvPr/>
        </p:nvSpPr>
        <p:spPr>
          <a:xfrm>
            <a:off x="8305800" y="2286000"/>
            <a:ext cx="2032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9BC2E6"/>
                </a:solidFill>
                <a:latin typeface="Malgun Gothic" panose="020B0503020000020004" pitchFamily="50" charset="-127"/>
              </a:rPr>
              <a:t>예시 강화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0C816-78F2-86E3-3C3E-89C0E9EE7EF4}"/>
              </a:ext>
            </a:extLst>
          </p:cNvPr>
          <p:cNvSpPr txBox="1"/>
          <p:nvPr/>
        </p:nvSpPr>
        <p:spPr>
          <a:xfrm>
            <a:off x="8305800" y="2921000"/>
            <a:ext cx="2032000" cy="120032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>
                <a:solidFill>
                  <a:srgbClr val="FFFFFF"/>
                </a:solidFill>
                <a:latin typeface="Malgun Gothic" panose="020B0503020000020004" pitchFamily="50" charset="-127"/>
              </a:rPr>
              <a:t>샤프심 강화</a:t>
            </a:r>
          </a:p>
          <a:p>
            <a:pPr algn="ctr"/>
            <a:r>
              <a:rPr lang="ko-KR" altLang="en-US">
                <a:solidFill>
                  <a:srgbClr val="FFFFFF"/>
                </a:solidFill>
                <a:latin typeface="Malgun Gothic" panose="020B0503020000020004" pitchFamily="50" charset="-127"/>
              </a:rPr>
              <a:t>커피 방울</a:t>
            </a:r>
          </a:p>
          <a:p>
            <a:pPr algn="ctr"/>
            <a:r>
              <a:rPr lang="ko-KR" altLang="en-US">
                <a:solidFill>
                  <a:srgbClr val="FFFFFF"/>
                </a:solidFill>
                <a:latin typeface="Malgun Gothic" panose="020B0503020000020004" pitchFamily="50" charset="-127"/>
              </a:rPr>
              <a:t>포스트잇 탄창</a:t>
            </a:r>
          </a:p>
          <a:p>
            <a:pPr algn="ctr"/>
            <a:r>
              <a:rPr lang="ko-KR" altLang="en-US">
                <a:solidFill>
                  <a:srgbClr val="FFFFFF"/>
                </a:solidFill>
                <a:latin typeface="Malgun Gothic" panose="020B0503020000020004" pitchFamily="50" charset="-127"/>
              </a:rPr>
              <a:t>지우개 보호막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3E936A-DEC1-C40D-D871-EB054173ACB3}"/>
              </a:ext>
            </a:extLst>
          </p:cNvPr>
          <p:cNvSpPr txBox="1"/>
          <p:nvPr/>
        </p:nvSpPr>
        <p:spPr>
          <a:xfrm>
            <a:off x="1092200" y="5486400"/>
            <a:ext cx="100584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뱀서류 구조라 로그라이트성은 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랜덤 성장 선택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에서 직접 나온다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916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9831F5-9D28-5F81-4325-FA1222B4FC10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IMPLEMENTATION ORDER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DE772-DA59-7314-3C40-F2057FCC7AC6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7.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구현 우선순위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57E37E-EB16-BF1C-E30D-F7B07DC98314}"/>
              </a:ext>
            </a:extLst>
          </p:cNvPr>
          <p:cNvSpPr/>
          <p:nvPr/>
        </p:nvSpPr>
        <p:spPr>
          <a:xfrm>
            <a:off x="863600" y="1676400"/>
            <a:ext cx="10464800" cy="3632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9ED5E8-E60D-5321-670B-93F9E9387BA3}"/>
              </a:ext>
            </a:extLst>
          </p:cNvPr>
          <p:cNvSpPr txBox="1"/>
          <p:nvPr/>
        </p:nvSpPr>
        <p:spPr>
          <a:xfrm>
            <a:off x="1244600" y="2032000"/>
            <a:ext cx="9398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큰 평지 </a:t>
            </a:r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플레이어 이동 </a:t>
            </a:r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적 접촉 사망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604359-8A2A-90DE-A788-5F6E861974D9}"/>
              </a:ext>
            </a:extLst>
          </p:cNvPr>
          <p:cNvSpPr txBox="1"/>
          <p:nvPr/>
        </p:nvSpPr>
        <p:spPr>
          <a:xfrm>
            <a:off x="1244600" y="2590800"/>
            <a:ext cx="9398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적 자동 스폰과 플레이어 추적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31DF50-5229-945E-8C2D-827570291942}"/>
              </a:ext>
            </a:extLst>
          </p:cNvPr>
          <p:cNvSpPr txBox="1"/>
          <p:nvPr/>
        </p:nvSpPr>
        <p:spPr>
          <a:xfrm>
            <a:off x="1244600" y="3149600"/>
            <a:ext cx="9398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자동 공격과 적 처치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C6A92B-6D52-ECE5-05A4-B6CDCE302227}"/>
              </a:ext>
            </a:extLst>
          </p:cNvPr>
          <p:cNvSpPr txBox="1"/>
          <p:nvPr/>
        </p:nvSpPr>
        <p:spPr>
          <a:xfrm>
            <a:off x="1244600" y="3708400"/>
            <a:ext cx="9398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4. </a:t>
            </a:r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경험치 드랍과 레벨업 </a:t>
            </a:r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UI</a:t>
            </a:r>
            <a:endParaRPr lang="ko-KR" altLang="en-US" sz="2000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B414B-3D50-9D3B-743B-CEB0B1DB3D7F}"/>
              </a:ext>
            </a:extLst>
          </p:cNvPr>
          <p:cNvSpPr txBox="1"/>
          <p:nvPr/>
        </p:nvSpPr>
        <p:spPr>
          <a:xfrm>
            <a:off x="1244600" y="4267200"/>
            <a:ext cx="9398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5. </a:t>
            </a:r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강화 </a:t>
            </a:r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택</a:t>
            </a:r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과 생존 시간</a:t>
            </a:r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게임오버 </a:t>
            </a:r>
            <a:r>
              <a:rPr lang="en-US" altLang="ko-KR" sz="2000" b="1">
                <a:solidFill>
                  <a:srgbClr val="242424"/>
                </a:solidFill>
                <a:latin typeface="Malgun Gothic" panose="020B0503020000020004" pitchFamily="50" charset="-127"/>
              </a:rPr>
              <a:t>UI</a:t>
            </a:r>
            <a:endParaRPr lang="ko-KR" altLang="en-US" sz="2000" b="1">
              <a:solidFill>
                <a:srgbClr val="2424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093DD-3A7C-166E-65C5-5F4EB31F1981}"/>
              </a:ext>
            </a:extLst>
          </p:cNvPr>
          <p:cNvSpPr txBox="1"/>
          <p:nvPr/>
        </p:nvSpPr>
        <p:spPr>
          <a:xfrm>
            <a:off x="1041400" y="5689600"/>
            <a:ext cx="10160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기능을 작은 순서로 쌓아 충돌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스케일 문제를 먼저 잡는다</a:t>
            </a:r>
            <a:r>
              <a:rPr lang="en-US" altLang="ko-KR" sz="20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6614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5489A3-DBD4-7A64-A394-9F2F0C46493E}"/>
              </a:ext>
            </a:extLst>
          </p:cNvPr>
          <p:cNvSpPr txBox="1"/>
          <p:nvPr/>
        </p:nvSpPr>
        <p:spPr>
          <a:xfrm>
            <a:off x="533400" y="355600"/>
            <a:ext cx="7874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595959"/>
                </a:solidFill>
                <a:latin typeface="Malgun Gothic" panose="020B0503020000020004" pitchFamily="50" charset="-127"/>
              </a:rPr>
              <a:t>SCOPE</a:t>
            </a:r>
            <a:endParaRPr lang="ko-KR" altLang="en-US" sz="1300">
              <a:solidFill>
                <a:srgbClr val="59595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FCF42-C0CB-4F9F-F326-7F64CD850EDB}"/>
              </a:ext>
            </a:extLst>
          </p:cNvPr>
          <p:cNvSpPr txBox="1"/>
          <p:nvPr/>
        </p:nvSpPr>
        <p:spPr>
          <a:xfrm>
            <a:off x="482600" y="736600"/>
            <a:ext cx="10795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ko-KR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8. </a:t>
            </a:r>
            <a:r>
              <a:rPr lang="ko-KR" altLang="en-US" sz="2800" b="1">
                <a:solidFill>
                  <a:srgbClr val="242424"/>
                </a:solidFill>
                <a:latin typeface="Malgun Gothic" panose="020B0503020000020004" pitchFamily="50" charset="-127"/>
              </a:rPr>
              <a:t>프로토타입 완성 범위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743ED4-F166-BC86-D148-122255E3D533}"/>
              </a:ext>
            </a:extLst>
          </p:cNvPr>
          <p:cNvSpPr/>
          <p:nvPr/>
        </p:nvSpPr>
        <p:spPr>
          <a:xfrm>
            <a:off x="787400" y="1727200"/>
            <a:ext cx="4851400" cy="3632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2C2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A8CBFD-68F3-6141-A936-6EFD12617EB4}"/>
              </a:ext>
            </a:extLst>
          </p:cNvPr>
          <p:cNvSpPr txBox="1"/>
          <p:nvPr/>
        </p:nvSpPr>
        <p:spPr>
          <a:xfrm>
            <a:off x="1143000" y="2082800"/>
            <a:ext cx="2540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242424"/>
                </a:solidFill>
                <a:latin typeface="Malgun Gothic" panose="020B0503020000020004" pitchFamily="50" charset="-127"/>
              </a:rPr>
              <a:t>필수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B407D-2D7C-1AA8-8783-DFA173838082}"/>
              </a:ext>
            </a:extLst>
          </p:cNvPr>
          <p:cNvSpPr txBox="1"/>
          <p:nvPr/>
        </p:nvSpPr>
        <p:spPr>
          <a:xfrm>
            <a:off x="1143000" y="2717800"/>
            <a:ext cx="3810000" cy="23698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플레이어 이동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적 추적 및 접촉 데미지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자동 공격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경험치와 레벨업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강화 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택</a:t>
            </a: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1</a:t>
            </a:r>
          </a:p>
          <a:p>
            <a:pPr>
              <a:spcAft>
                <a:spcPts val="800"/>
              </a:spcAft>
            </a:pPr>
            <a:r>
              <a:rPr lang="en-US" altLang="ko-KR" sz="1900">
                <a:solidFill>
                  <a:srgbClr val="333333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900">
                <a:solidFill>
                  <a:srgbClr val="333333"/>
                </a:solidFill>
                <a:latin typeface="Malgun Gothic" panose="020B0503020000020004" pitchFamily="50" charset="-127"/>
              </a:rPr>
              <a:t>생존 시간과 게임오버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71ABDB-9810-CE04-1D1B-FAC08F0CD066}"/>
              </a:ext>
            </a:extLst>
          </p:cNvPr>
          <p:cNvSpPr/>
          <p:nvPr/>
        </p:nvSpPr>
        <p:spPr>
          <a:xfrm>
            <a:off x="6553200" y="1727200"/>
            <a:ext cx="4851400" cy="3632200"/>
          </a:xfrm>
          <a:prstGeom prst="rect">
            <a:avLst/>
          </a:prstGeom>
          <a:solidFill>
            <a:srgbClr val="242424"/>
          </a:solidFill>
          <a:ln w="15875">
            <a:solidFill>
              <a:srgbClr val="2424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9EEF6-156A-5733-363B-ED3DCBBFCDF2}"/>
              </a:ext>
            </a:extLst>
          </p:cNvPr>
          <p:cNvSpPr txBox="1"/>
          <p:nvPr/>
        </p:nvSpPr>
        <p:spPr>
          <a:xfrm>
            <a:off x="6908800" y="2082800"/>
            <a:ext cx="2540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9BC2E6"/>
                </a:solidFill>
                <a:latin typeface="Malgun Gothic" panose="020B0503020000020004" pitchFamily="50" charset="-127"/>
              </a:rPr>
              <a:t>추가 목표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65165-17C7-4574-D426-CDD796E596C3}"/>
              </a:ext>
            </a:extLst>
          </p:cNvPr>
          <p:cNvSpPr txBox="1"/>
          <p:nvPr/>
        </p:nvSpPr>
        <p:spPr>
          <a:xfrm>
            <a:off x="6959600" y="2870200"/>
            <a:ext cx="3708400" cy="132343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적 종류 추가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보스전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책상 오브젝트 장식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사운드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피격 이펙트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FFFFFF"/>
                </a:solidFill>
                <a:latin typeface="Malgun Gothic" panose="020B0503020000020004" pitchFamily="50" charset="-127"/>
              </a:rPr>
              <a:t>최고 생존 시간 저장을 추가한다</a:t>
            </a:r>
            <a:r>
              <a:rPr lang="en-US" altLang="ko-KR" sz="2000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F78B3-02B9-5651-DE2C-345E35326304}"/>
              </a:ext>
            </a:extLst>
          </p:cNvPr>
          <p:cNvSpPr txBox="1"/>
          <p:nvPr/>
        </p:nvSpPr>
        <p:spPr>
          <a:xfrm>
            <a:off x="1219200" y="5791200"/>
            <a:ext cx="9652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4D4D4D"/>
                </a:solidFill>
                <a:latin typeface="Malgun Gothic" panose="020B0503020000020004" pitchFamily="50" charset="-127"/>
              </a:rPr>
              <a:t>이번 방향은 방 구조보다 완성 가능성과 플레이 감각을 우선한다</a:t>
            </a:r>
            <a:r>
              <a:rPr lang="en-US" altLang="ko-KR" sz="2200" b="1">
                <a:solidFill>
                  <a:srgbClr val="4D4D4D"/>
                </a:solidFill>
                <a:latin typeface="Malgun Gothic" panose="020B0503020000020004" pitchFamily="50" charset="-127"/>
              </a:rPr>
              <a:t>.</a:t>
            </a:r>
            <a:endParaRPr lang="ko-KR" altLang="en-US" sz="2200" b="1">
              <a:solidFill>
                <a:srgbClr val="4D4D4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552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Office PowerPoint</Application>
  <PresentationFormat>사용자 지정</PresentationFormat>
  <Paragraphs>92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태형 조</dc:creator>
  <cp:lastModifiedBy>태형 조</cp:lastModifiedBy>
  <cp:revision>1</cp:revision>
  <dcterms:created xsi:type="dcterms:W3CDTF">2026-05-21T10:52:33Z</dcterms:created>
  <dcterms:modified xsi:type="dcterms:W3CDTF">2026-05-21T10:52:33Z</dcterms:modified>
</cp:coreProperties>
</file>
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F06A05-EE59-0923-F554-CFA3B48781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B789C8-405F-9F46-749A-40640D0A5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1BE9C3-91DD-B69D-BABD-4752E808E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1FE7-6FA5-441C-9C8A-D5F7FDA708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D9C48E-1C3C-05AB-CB35-416F8D657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2178FC-F27B-A549-BF00-A57DAE05E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5F7D-61BD-4BF9-9BD9-5E31A0CB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56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E681D-B0A4-2AFD-B00C-4FBD9429A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B1E7EB-EB39-DF6F-E5D1-751B9B93F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97E307-709F-AD85-7B04-206F73E12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1FE7-6FA5-441C-9C8A-D5F7FDA708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4D7890-5EFA-4C98-7A10-8AA7D77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92E642-E32E-6C88-BCD2-512E4BA8F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5F7D-61BD-4BF9-9BD9-5E31A0CB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295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53DFB-8E0F-9B02-559D-54F7B6BD2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8E9DA6-45BB-4862-8BC3-AA2EEA5C2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00D085-412B-1CEC-D3FC-E4E698536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1FE7-6FA5-441C-9C8A-D5F7FDA708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12E21-54A0-2108-6D28-31FA2A10E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C8BBCD-165B-D70B-9848-601507426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5F7D-61BD-4BF9-9BD9-5E31A0CB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48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BF8DDE-1D3A-A8DB-1F0F-9A8CA0C4B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1FD6A-13FC-4CA3-5223-FD84B7E970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F9E404-F36A-627B-5099-C45249F6C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B15AD6-2700-CE77-BC7E-185BFD508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1FE7-6FA5-441C-9C8A-D5F7FDA708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BAEF26-DEB0-B667-CFD0-1E7754558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478DE9-D2DA-4E12-A445-763B37898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5F7D-61BD-4BF9-9BD9-5E31A0CB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2931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DEF761-8652-2E82-82BC-A728A30B8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65F034-4F46-7AF0-DDB4-AF0E146DB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7B88D9-5543-B065-C734-56CBBE9D0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F573E06-75FD-2FDF-F224-5CBCC9FEEA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07AA13-6B57-FF0F-F848-8CA88933D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1AD1C0-99A2-CE13-06D4-035478286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1FE7-6FA5-441C-9C8A-D5F7FDA708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871D4E-8E87-5DD0-B511-1625B3EFC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3C86294-E0B2-041A-BE08-20B6F8D7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5F7D-61BD-4BF9-9BD9-5E31A0CB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643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3DFB26-44EA-6CE8-3CA2-BEBBDF7FE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ED84BF-D128-5D53-FD5C-B21DC49A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1FE7-6FA5-441C-9C8A-D5F7FDA708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95FCE4-3DE1-C8DE-21D7-C21A6B7FE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CEB08E-47A0-51B2-8230-8C651C913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5F7D-61BD-4BF9-9BD9-5E31A0CB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554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A113963-9B95-F259-B155-B04867B01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1FE7-6FA5-441C-9C8A-D5F7FDA708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1343A18-072D-FA75-D881-09A664BB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E75F57-6281-15A1-ED32-B8D9A98F3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5F7D-61BD-4BF9-9BD9-5E31A0CB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974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C8570-5EDB-C975-FDD7-4BF59C0F5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8C4F33-3512-11A0-139C-83205C979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719A71-4F15-72A4-73E8-881F9F39B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A6BDEF-C229-50B7-FF8E-7996E9646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1FE7-6FA5-441C-9C8A-D5F7FDA708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DDB875-16F3-D40C-FB50-CE358802B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0B135B-4FAB-286F-CE1B-9CF32A2C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5F7D-61BD-4BF9-9BD9-5E31A0CB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48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B27A7-BF4F-CFFE-68A9-88D479FE9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CFE7A39-7A10-6D73-8A97-7777ADF650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940476-4D4F-4FD1-92EE-D5A8C3DD6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E1ECD5-490B-20AE-295A-93BC85D6F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1FE7-6FA5-441C-9C8A-D5F7FDA708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6716CD-E13A-9AC6-C74E-FE1BEF515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85197D-4C23-329A-42B7-D578CCBBE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5F7D-61BD-4BF9-9BD9-5E31A0CB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827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E930A-7E9F-2D27-4859-1AB280648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10E93F-D8C8-083C-7B1C-ED84A0883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90987C-6258-683F-9B6E-750CBADB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1FE7-6FA5-441C-9C8A-D5F7FDA708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89D9FF-797D-2CCC-1B35-E7197AF66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3943DF-F8B2-4073-8868-17119167E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5F7D-61BD-4BF9-9BD9-5E31A0CB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282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C16FC65-5779-F98F-D46A-AEEF0BF3E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3EDB895-C98B-43BF-B2A5-4322CDBEE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F968F9-95C4-17BD-5BCF-1E12663B6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1FE7-6FA5-441C-9C8A-D5F7FDA708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87173C-1A78-C71F-570B-86B57FED7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C1977-1E26-DDB3-5F74-54DBD3FD7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5F7D-61BD-4BF9-9BD9-5E31A0CB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129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138D2BE-C2B9-3B94-2EAB-017262138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03D1A3-4E6D-18EC-4698-5D859FDAE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67500F-F15B-5668-E2FD-4D2C536BC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11FE7-6FA5-441C-9C8A-D5F7FDA708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D17874-F142-9B27-EF4F-EF1AC9764A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ED2C03-1A34-EC4E-7227-FB5259690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15F7D-61BD-4BF9-9BD9-5E31A0CB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41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60F017F-BA57-979E-04E3-83BFD62485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0F0"/>
          </a:solidFill>
          <a:ln w="15875"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D6BD963-BC7C-E3F9-8BFE-A0AA5E7038FF}"/>
              </a:ext>
            </a:extLst>
          </p:cNvPr>
          <p:cNvSpPr/>
          <p:nvPr/>
        </p:nvSpPr>
        <p:spPr>
          <a:xfrm>
            <a:off x="0" y="4953000"/>
            <a:ext cx="12192000" cy="1905000"/>
          </a:xfrm>
          <a:prstGeom prst="rect">
            <a:avLst/>
          </a:prstGeom>
          <a:solidFill>
            <a:srgbClr val="242424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FDA3C9-1891-ED68-F92B-E69B13E90D05}"/>
              </a:ext>
            </a:extLst>
          </p:cNvPr>
          <p:cNvSpPr txBox="1"/>
          <p:nvPr/>
        </p:nvSpPr>
        <p:spPr>
          <a:xfrm>
            <a:off x="660400" y="939800"/>
            <a:ext cx="10414000" cy="74892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4200" b="1">
                <a:solidFill>
                  <a:srgbClr val="242424"/>
                </a:solidFill>
                <a:latin typeface="Malgun Gothic" panose="020B0503020000020004" pitchFamily="50" charset="-127"/>
              </a:rPr>
              <a:t>Desktop Dungeon</a:t>
            </a:r>
            <a:endParaRPr lang="ko-KR" altLang="en-US" sz="4200" b="1">
              <a:solidFill>
                <a:srgbClr val="2424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1394A3-AE01-86BF-F9C7-C2595B73AA2F}"/>
              </a:ext>
            </a:extLst>
          </p:cNvPr>
          <p:cNvSpPr txBox="1"/>
          <p:nvPr/>
        </p:nvSpPr>
        <p:spPr>
          <a:xfrm>
            <a:off x="711200" y="1854200"/>
            <a:ext cx="6604000" cy="47192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ko-KR" altLang="en-US" sz="2400" b="1">
                <a:solidFill>
                  <a:srgbClr val="4D4D4D"/>
                </a:solidFill>
                <a:latin typeface="Malgun Gothic" panose="020B0503020000020004" pitchFamily="50" charset="-127"/>
              </a:rPr>
              <a:t>책상 위 던전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ECAD4-8CD5-72BA-E3FD-E5763F5D60B8}"/>
              </a:ext>
            </a:extLst>
          </p:cNvPr>
          <p:cNvSpPr txBox="1"/>
          <p:nvPr/>
        </p:nvSpPr>
        <p:spPr>
          <a:xfrm>
            <a:off x="711200" y="2438400"/>
            <a:ext cx="88900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ko-KR" altLang="en-US">
                <a:solidFill>
                  <a:srgbClr val="4D4D4D"/>
                </a:solidFill>
                <a:latin typeface="Malgun Gothic" panose="020B0503020000020004" pitchFamily="50" charset="-127"/>
              </a:rPr>
              <a:t>탑뷰 액션 로그라이트 기말 프로젝트 프로토타입 기획안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C537D7-28C5-4E5C-1A36-9C2B52386A3A}"/>
              </a:ext>
            </a:extLst>
          </p:cNvPr>
          <p:cNvSpPr/>
          <p:nvPr/>
        </p:nvSpPr>
        <p:spPr>
          <a:xfrm>
            <a:off x="7670800" y="914400"/>
            <a:ext cx="3111500" cy="152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5C55885-A05F-DD65-D4D1-3347263F1CDB}"/>
              </a:ext>
            </a:extLst>
          </p:cNvPr>
          <p:cNvSpPr/>
          <p:nvPr/>
        </p:nvSpPr>
        <p:spPr>
          <a:xfrm>
            <a:off x="8026400" y="1295400"/>
            <a:ext cx="2413000" cy="787400"/>
          </a:xfrm>
          <a:prstGeom prst="rect">
            <a:avLst/>
          </a:prstGeom>
          <a:solidFill>
            <a:srgbClr val="D3D3D3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024300-6B80-B7B3-E593-ECE3C0D1FE8E}"/>
              </a:ext>
            </a:extLst>
          </p:cNvPr>
          <p:cNvSpPr txBox="1"/>
          <p:nvPr/>
        </p:nvSpPr>
        <p:spPr>
          <a:xfrm>
            <a:off x="8369300" y="1549400"/>
            <a:ext cx="17780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555555"/>
                </a:solidFill>
                <a:latin typeface="Malgun Gothic" panose="020B0503020000020004" pitchFamily="50" charset="-127"/>
              </a:rPr>
              <a:t>KEYBOARD</a:t>
            </a:r>
            <a:endParaRPr lang="ko-KR" altLang="en-US" sz="1400" b="1">
              <a:solidFill>
                <a:srgbClr val="555555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72D6AB2-E096-860E-F31D-1B454B1ABF56}"/>
              </a:ext>
            </a:extLst>
          </p:cNvPr>
          <p:cNvSpPr/>
          <p:nvPr/>
        </p:nvSpPr>
        <p:spPr>
          <a:xfrm>
            <a:off x="9118600" y="3276600"/>
            <a:ext cx="584200" cy="584200"/>
          </a:xfrm>
          <a:prstGeom prst="ellipse">
            <a:avLst/>
          </a:prstGeom>
          <a:solidFill>
            <a:srgbClr val="9BC2E6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33AADA-8F38-A57E-9D1E-EC8A60757FDC}"/>
              </a:ext>
            </a:extLst>
          </p:cNvPr>
          <p:cNvSpPr txBox="1"/>
          <p:nvPr/>
        </p:nvSpPr>
        <p:spPr>
          <a:xfrm>
            <a:off x="685800" y="5257800"/>
            <a:ext cx="101600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ko-KR" altLang="en-US" sz="2000">
                <a:solidFill>
                  <a:srgbClr val="FFFFFF"/>
                </a:solidFill>
                <a:latin typeface="Malgun Gothic" panose="020B0503020000020004" pitchFamily="50" charset="-127"/>
              </a:rPr>
              <a:t>작은 캐릭터가 일상적인 책상 위를 던전처럼 탐험한다</a:t>
            </a:r>
            <a:r>
              <a:rPr lang="en-US" altLang="ko-KR" sz="2000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9479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C10A2B-0A9C-93C8-5D4E-95FF2CF23C08}"/>
              </a:ext>
            </a:extLst>
          </p:cNvPr>
          <p:cNvSpPr txBox="1"/>
          <p:nvPr/>
        </p:nvSpPr>
        <p:spPr>
          <a:xfrm>
            <a:off x="533400" y="355600"/>
            <a:ext cx="78740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1300">
                <a:solidFill>
                  <a:srgbClr val="595959"/>
                </a:solidFill>
                <a:latin typeface="Malgun Gothic" panose="020B0503020000020004" pitchFamily="50" charset="-127"/>
              </a:rPr>
              <a:t>CORE CONCEPT</a:t>
            </a:r>
            <a:endParaRPr lang="ko-KR" altLang="en-US" sz="1300">
              <a:solidFill>
                <a:srgbClr val="59595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E0A94-EE4F-34D1-7D57-9ED86F876A3B}"/>
              </a:ext>
            </a:extLst>
          </p:cNvPr>
          <p:cNvSpPr txBox="1"/>
          <p:nvPr/>
        </p:nvSpPr>
        <p:spPr>
          <a:xfrm>
            <a:off x="482600" y="736600"/>
            <a:ext cx="107950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1. </a:t>
            </a:r>
            <a:r>
              <a:rPr lang="ko-KR" altLang="en-US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게임 컨셉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DB9F82-14AB-2340-41B3-76DFB598176B}"/>
              </a:ext>
            </a:extLst>
          </p:cNvPr>
          <p:cNvSpPr/>
          <p:nvPr/>
        </p:nvSpPr>
        <p:spPr>
          <a:xfrm>
            <a:off x="660400" y="1752600"/>
            <a:ext cx="4826000" cy="368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D27673-A312-0FB5-4903-C35D834B6836}"/>
              </a:ext>
            </a:extLst>
          </p:cNvPr>
          <p:cNvSpPr txBox="1"/>
          <p:nvPr/>
        </p:nvSpPr>
        <p:spPr>
          <a:xfrm>
            <a:off x="914400" y="2057400"/>
            <a:ext cx="4191000" cy="245708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장르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탑뷰 액션 로그라이트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무대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거대한 던전처럼 변한 책상 위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플레이어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작아진 미니 캐릭터 또는 장난감 전사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목표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책상 위 구역을 돌파해 최종 보스를 처치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F4005B6-B90E-CD8D-6D6C-02C8C20D3983}"/>
              </a:ext>
            </a:extLst>
          </p:cNvPr>
          <p:cNvSpPr/>
          <p:nvPr/>
        </p:nvSpPr>
        <p:spPr>
          <a:xfrm>
            <a:off x="6146800" y="1752600"/>
            <a:ext cx="4978400" cy="3683000"/>
          </a:xfrm>
          <a:prstGeom prst="rect">
            <a:avLst/>
          </a:prstGeom>
          <a:solidFill>
            <a:srgbClr val="242424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A5BB2-F68B-DA32-735A-099E5782F57A}"/>
              </a:ext>
            </a:extLst>
          </p:cNvPr>
          <p:cNvSpPr txBox="1"/>
          <p:nvPr/>
        </p:nvSpPr>
        <p:spPr>
          <a:xfrm>
            <a:off x="6527800" y="2082800"/>
            <a:ext cx="25400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ko-KR" altLang="en-US" b="1">
                <a:solidFill>
                  <a:srgbClr val="9BC2E6"/>
                </a:solidFill>
                <a:latin typeface="Malgun Gothic" panose="020B0503020000020004" pitchFamily="50" charset="-127"/>
              </a:rPr>
              <a:t>핵심 한 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7756A5-7744-D826-AB3C-7704CF7555B6}"/>
              </a:ext>
            </a:extLst>
          </p:cNvPr>
          <p:cNvSpPr txBox="1"/>
          <p:nvPr/>
        </p:nvSpPr>
        <p:spPr>
          <a:xfrm>
            <a:off x="6527800" y="2641600"/>
            <a:ext cx="4000500" cy="163121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ko-KR" altLang="en-US" sz="2500" b="1">
                <a:solidFill>
                  <a:srgbClr val="FFFFFF"/>
                </a:solidFill>
                <a:latin typeface="Malgun Gothic" panose="020B0503020000020004" pitchFamily="50" charset="-127"/>
              </a:rPr>
              <a:t>평범한 책상 위 사물이 거대한 던전 오브젝트와 몬스터가 되는 탑뷰 로그라이트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E2FEE6-BDB7-A158-F0A0-2289AD096393}"/>
              </a:ext>
            </a:extLst>
          </p:cNvPr>
          <p:cNvSpPr txBox="1"/>
          <p:nvPr/>
        </p:nvSpPr>
        <p:spPr>
          <a:xfrm>
            <a:off x="6553200" y="4470400"/>
            <a:ext cx="3937000" cy="56425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ko-KR" altLang="en-US" sz="1500">
                <a:solidFill>
                  <a:srgbClr val="E6E6E6"/>
                </a:solidFill>
                <a:latin typeface="Malgun Gothic" panose="020B0503020000020004" pitchFamily="50" charset="-127"/>
              </a:rPr>
              <a:t>연필</a:t>
            </a:r>
            <a:r>
              <a:rPr lang="en-US" altLang="ko-KR" sz="1500">
                <a:solidFill>
                  <a:srgbClr val="E6E6E6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E6E6E6"/>
                </a:solidFill>
                <a:latin typeface="Malgun Gothic" panose="020B0503020000020004" pitchFamily="50" charset="-127"/>
              </a:rPr>
              <a:t>클립</a:t>
            </a:r>
            <a:r>
              <a:rPr lang="en-US" altLang="ko-KR" sz="1500">
                <a:solidFill>
                  <a:srgbClr val="E6E6E6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E6E6E6"/>
                </a:solidFill>
                <a:latin typeface="Malgun Gothic" panose="020B0503020000020004" pitchFamily="50" charset="-127"/>
              </a:rPr>
              <a:t>지우개</a:t>
            </a:r>
            <a:r>
              <a:rPr lang="en-US" altLang="ko-KR" sz="1500">
                <a:solidFill>
                  <a:srgbClr val="E6E6E6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E6E6E6"/>
                </a:solidFill>
                <a:latin typeface="Malgun Gothic" panose="020B0503020000020004" pitchFamily="50" charset="-127"/>
              </a:rPr>
              <a:t>커피컵 같은 일상 오브젝트를 전투</a:t>
            </a:r>
            <a:r>
              <a:rPr lang="en-US" altLang="ko-KR" sz="1500">
                <a:solidFill>
                  <a:srgbClr val="E6E6E6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500">
                <a:solidFill>
                  <a:srgbClr val="E6E6E6"/>
                </a:solidFill>
                <a:latin typeface="Malgun Gothic" panose="020B0503020000020004" pitchFamily="50" charset="-127"/>
              </a:rPr>
              <a:t>장애물</a:t>
            </a:r>
            <a:r>
              <a:rPr lang="en-US" altLang="ko-KR" sz="1500">
                <a:solidFill>
                  <a:srgbClr val="E6E6E6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500">
                <a:solidFill>
                  <a:srgbClr val="E6E6E6"/>
                </a:solidFill>
                <a:latin typeface="Malgun Gothic" panose="020B0503020000020004" pitchFamily="50" charset="-127"/>
              </a:rPr>
              <a:t>아이템으로 활용한다</a:t>
            </a:r>
            <a:r>
              <a:rPr lang="en-US" altLang="ko-KR" sz="1500">
                <a:solidFill>
                  <a:srgbClr val="E6E6E6"/>
                </a:solidFill>
                <a:latin typeface="Malgun Gothic" panose="020B0503020000020004" pitchFamily="50" charset="-127"/>
              </a:rPr>
              <a:t>.</a:t>
            </a:r>
            <a:endParaRPr lang="ko-KR" altLang="en-US" sz="1500">
              <a:solidFill>
                <a:srgbClr val="E6E6E6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400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87BEAF-DE91-3786-4DEC-3EBF5F7D83F1}"/>
              </a:ext>
            </a:extLst>
          </p:cNvPr>
          <p:cNvSpPr txBox="1"/>
          <p:nvPr/>
        </p:nvSpPr>
        <p:spPr>
          <a:xfrm>
            <a:off x="533400" y="355600"/>
            <a:ext cx="78740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1300">
                <a:solidFill>
                  <a:srgbClr val="595959"/>
                </a:solidFill>
                <a:latin typeface="Malgun Gothic" panose="020B0503020000020004" pitchFamily="50" charset="-127"/>
              </a:rPr>
              <a:t>GAME GOAL</a:t>
            </a:r>
            <a:endParaRPr lang="ko-KR" altLang="en-US" sz="1300">
              <a:solidFill>
                <a:srgbClr val="59595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180D4-FDD1-0ABD-C750-7090F95F7E85}"/>
              </a:ext>
            </a:extLst>
          </p:cNvPr>
          <p:cNvSpPr txBox="1"/>
          <p:nvPr/>
        </p:nvSpPr>
        <p:spPr>
          <a:xfrm>
            <a:off x="482600" y="736600"/>
            <a:ext cx="107950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플레이 목표와 핵심 재미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F2C3122-FA53-3A80-5574-856966BBFEFC}"/>
              </a:ext>
            </a:extLst>
          </p:cNvPr>
          <p:cNvSpPr/>
          <p:nvPr/>
        </p:nvSpPr>
        <p:spPr>
          <a:xfrm>
            <a:off x="711200" y="1752600"/>
            <a:ext cx="3149600" cy="3479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820EF2-6063-693F-6711-674FCC4750AC}"/>
              </a:ext>
            </a:extLst>
          </p:cNvPr>
          <p:cNvSpPr/>
          <p:nvPr/>
        </p:nvSpPr>
        <p:spPr>
          <a:xfrm>
            <a:off x="4521200" y="1752600"/>
            <a:ext cx="3149600" cy="3479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3F71CF-7A63-E81D-A3AD-6D204D2A4CF5}"/>
              </a:ext>
            </a:extLst>
          </p:cNvPr>
          <p:cNvSpPr/>
          <p:nvPr/>
        </p:nvSpPr>
        <p:spPr>
          <a:xfrm>
            <a:off x="8331200" y="1752600"/>
            <a:ext cx="3149600" cy="3479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210014-3A44-6777-06EA-D89C32C4C391}"/>
              </a:ext>
            </a:extLst>
          </p:cNvPr>
          <p:cNvSpPr txBox="1"/>
          <p:nvPr/>
        </p:nvSpPr>
        <p:spPr>
          <a:xfrm>
            <a:off x="990600" y="2108200"/>
            <a:ext cx="24130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242424"/>
                </a:solidFill>
                <a:latin typeface="Malgun Gothic" panose="020B0503020000020004" pitchFamily="50" charset="-127"/>
              </a:rPr>
              <a:t>방 클리어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BB67C6-6530-3277-6E72-2A5625B441F1}"/>
              </a:ext>
            </a:extLst>
          </p:cNvPr>
          <p:cNvSpPr txBox="1"/>
          <p:nvPr/>
        </p:nvSpPr>
        <p:spPr>
          <a:xfrm>
            <a:off x="1066800" y="2717800"/>
            <a:ext cx="2159000" cy="113877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책상 구역마다 등장하는 먼지</a:t>
            </a:r>
            <a:r>
              <a:rPr lang="en-US" altLang="ko-KR" sz="1700">
                <a:solidFill>
                  <a:srgbClr val="333333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클립</a:t>
            </a:r>
            <a:r>
              <a:rPr lang="en-US" altLang="ko-KR" sz="1700">
                <a:solidFill>
                  <a:srgbClr val="333333"/>
                </a:solidFill>
                <a:latin typeface="Malgun Gothic" panose="020B0503020000020004" pitchFamily="50" charset="-127"/>
              </a:rPr>
              <a:t>/USB </a:t>
            </a:r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오류 몬스터를 처치한다</a:t>
            </a:r>
            <a:r>
              <a:rPr lang="en-US" altLang="ko-KR" sz="1700">
                <a:solidFill>
                  <a:srgbClr val="333333"/>
                </a:solidFill>
                <a:latin typeface="Malgun Gothic" panose="020B0503020000020004" pitchFamily="50" charset="-127"/>
              </a:rPr>
              <a:t>.</a:t>
            </a:r>
            <a:endParaRPr lang="ko-KR" altLang="en-US" sz="1700">
              <a:solidFill>
                <a:srgbClr val="33333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B6EE7D-51F6-9F26-846E-08E2C0974391}"/>
              </a:ext>
            </a:extLst>
          </p:cNvPr>
          <p:cNvSpPr txBox="1"/>
          <p:nvPr/>
        </p:nvSpPr>
        <p:spPr>
          <a:xfrm>
            <a:off x="4800600" y="2108200"/>
            <a:ext cx="24130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242424"/>
                </a:solidFill>
                <a:latin typeface="Malgun Gothic" panose="020B0503020000020004" pitchFamily="50" charset="-127"/>
              </a:rPr>
              <a:t>랜덤 성장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9085B2-6BBD-C0F4-2AAA-34441C067773}"/>
              </a:ext>
            </a:extLst>
          </p:cNvPr>
          <p:cNvSpPr txBox="1"/>
          <p:nvPr/>
        </p:nvSpPr>
        <p:spPr>
          <a:xfrm>
            <a:off x="4876800" y="2717800"/>
            <a:ext cx="2159000" cy="113877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방을 클리어하면 </a:t>
            </a:r>
            <a:r>
              <a:rPr lang="en-US" altLang="ko-KR" sz="1700">
                <a:solidFill>
                  <a:srgbClr val="333333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개의 강화 중 하나를 선택해 매판 다른 빌드를 만든다</a:t>
            </a:r>
            <a:r>
              <a:rPr lang="en-US" altLang="ko-KR" sz="1700">
                <a:solidFill>
                  <a:srgbClr val="333333"/>
                </a:solidFill>
                <a:latin typeface="Malgun Gothic" panose="020B0503020000020004" pitchFamily="50" charset="-127"/>
              </a:rPr>
              <a:t>.</a:t>
            </a:r>
            <a:endParaRPr lang="ko-KR" altLang="en-US" sz="1700">
              <a:solidFill>
                <a:srgbClr val="33333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F09DCA-B1DA-9A29-0D7A-128E34B21DF1}"/>
              </a:ext>
            </a:extLst>
          </p:cNvPr>
          <p:cNvSpPr txBox="1"/>
          <p:nvPr/>
        </p:nvSpPr>
        <p:spPr>
          <a:xfrm>
            <a:off x="8610600" y="2108200"/>
            <a:ext cx="24130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242424"/>
                </a:solidFill>
                <a:latin typeface="Malgun Gothic" panose="020B0503020000020004" pitchFamily="50" charset="-127"/>
              </a:rPr>
              <a:t>보스 격파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F77C88-D1CF-F758-D652-A58E33687A64}"/>
              </a:ext>
            </a:extLst>
          </p:cNvPr>
          <p:cNvSpPr txBox="1"/>
          <p:nvPr/>
        </p:nvSpPr>
        <p:spPr>
          <a:xfrm>
            <a:off x="8686800" y="2717800"/>
            <a:ext cx="2159000" cy="113877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마지막 구역에서 스테이플러 또는 엎질러진 커피 보스를 상대한다</a:t>
            </a:r>
            <a:r>
              <a:rPr lang="en-US" altLang="ko-KR" sz="1700">
                <a:solidFill>
                  <a:srgbClr val="333333"/>
                </a:solidFill>
                <a:latin typeface="Malgun Gothic" panose="020B0503020000020004" pitchFamily="50" charset="-127"/>
              </a:rPr>
              <a:t>.</a:t>
            </a:r>
            <a:endParaRPr lang="ko-KR" altLang="en-US" sz="1700">
              <a:solidFill>
                <a:srgbClr val="33333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44F8AB-4629-FE56-3429-551B7F86A5C2}"/>
              </a:ext>
            </a:extLst>
          </p:cNvPr>
          <p:cNvSpPr txBox="1"/>
          <p:nvPr/>
        </p:nvSpPr>
        <p:spPr>
          <a:xfrm>
            <a:off x="1168400" y="5689600"/>
            <a:ext cx="99060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반복 플레이의 재미는 </a:t>
            </a:r>
            <a:r>
              <a:rPr lang="en-US" altLang="ko-KR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이번 판에는 어떤 강화 조합이 나올까</a:t>
            </a:r>
            <a:r>
              <a:rPr lang="en-US" altLang="ko-KR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?'</a:t>
            </a:r>
            <a:r>
              <a:rPr lang="ko-KR" altLang="en-US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에서 나온다</a:t>
            </a:r>
            <a:r>
              <a:rPr lang="en-US" altLang="ko-KR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.</a:t>
            </a:r>
            <a:endParaRPr lang="ko-KR" altLang="en-US" sz="2000" b="1">
              <a:solidFill>
                <a:srgbClr val="4D4D4D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1803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7C4452-3F8B-FBD2-781A-CA51172D0105}"/>
              </a:ext>
            </a:extLst>
          </p:cNvPr>
          <p:cNvSpPr txBox="1"/>
          <p:nvPr/>
        </p:nvSpPr>
        <p:spPr>
          <a:xfrm>
            <a:off x="533400" y="355600"/>
            <a:ext cx="78740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1300">
                <a:solidFill>
                  <a:srgbClr val="595959"/>
                </a:solidFill>
                <a:latin typeface="Malgun Gothic" panose="020B0503020000020004" pitchFamily="50" charset="-127"/>
              </a:rPr>
              <a:t>GAME LOOP</a:t>
            </a:r>
            <a:endParaRPr lang="ko-KR" altLang="en-US" sz="1300">
              <a:solidFill>
                <a:srgbClr val="59595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5CC23-2632-3626-CB95-247A6D00A86F}"/>
              </a:ext>
            </a:extLst>
          </p:cNvPr>
          <p:cNvSpPr txBox="1"/>
          <p:nvPr/>
        </p:nvSpPr>
        <p:spPr>
          <a:xfrm>
            <a:off x="482600" y="736600"/>
            <a:ext cx="107950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프로토타입 플레이 흐름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52A43E-DAD4-C83F-988B-27B489EB4732}"/>
              </a:ext>
            </a:extLst>
          </p:cNvPr>
          <p:cNvSpPr/>
          <p:nvPr/>
        </p:nvSpPr>
        <p:spPr>
          <a:xfrm>
            <a:off x="558800" y="2006600"/>
            <a:ext cx="2006600" cy="241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8D6A09B-8BC1-64AD-B5A4-87D0D603F221}"/>
              </a:ext>
            </a:extLst>
          </p:cNvPr>
          <p:cNvSpPr/>
          <p:nvPr/>
        </p:nvSpPr>
        <p:spPr>
          <a:xfrm>
            <a:off x="1231900" y="2286000"/>
            <a:ext cx="635000" cy="635000"/>
          </a:xfrm>
          <a:prstGeom prst="ellipse">
            <a:avLst/>
          </a:prstGeom>
          <a:solidFill>
            <a:srgbClr val="9BC2E6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EA1C4B-36E9-B929-9B14-E866F184EC42}"/>
              </a:ext>
            </a:extLst>
          </p:cNvPr>
          <p:cNvSpPr txBox="1"/>
          <p:nvPr/>
        </p:nvSpPr>
        <p:spPr>
          <a:xfrm>
            <a:off x="1384300" y="2425700"/>
            <a:ext cx="3048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ko-KR" b="1">
                <a:solidFill>
                  <a:srgbClr val="242424"/>
                </a:solidFill>
                <a:latin typeface="Malgun Gothic" panose="020B0503020000020004" pitchFamily="50" charset="-127"/>
              </a:rPr>
              <a:t>1</a:t>
            </a:r>
            <a:endParaRPr lang="ko-KR" altLang="en-US" b="1">
              <a:solidFill>
                <a:srgbClr val="2424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52A7BB-7B15-5E64-4AAF-6259C7536241}"/>
              </a:ext>
            </a:extLst>
          </p:cNvPr>
          <p:cNvSpPr txBox="1"/>
          <p:nvPr/>
        </p:nvSpPr>
        <p:spPr>
          <a:xfrm>
            <a:off x="762000" y="3124200"/>
            <a:ext cx="16002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b="1">
                <a:solidFill>
                  <a:srgbClr val="242424"/>
                </a:solidFill>
                <a:latin typeface="Malgun Gothic" panose="020B0503020000020004" pitchFamily="50" charset="-127"/>
              </a:rPr>
              <a:t>시작 구역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2E9BEF-E82D-13A0-F2ED-24CE0DE40A0E}"/>
              </a:ext>
            </a:extLst>
          </p:cNvPr>
          <p:cNvSpPr txBox="1"/>
          <p:nvPr/>
        </p:nvSpPr>
        <p:spPr>
          <a:xfrm>
            <a:off x="787400" y="3632200"/>
            <a:ext cx="15494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300">
                <a:solidFill>
                  <a:srgbClr val="555555"/>
                </a:solidFill>
                <a:latin typeface="Malgun Gothic" panose="020B0503020000020004" pitchFamily="50" charset="-127"/>
              </a:rPr>
              <a:t>마우스패드에서 시작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80BE6B-794A-28CF-FADD-B0F1D9C952E3}"/>
              </a:ext>
            </a:extLst>
          </p:cNvPr>
          <p:cNvSpPr/>
          <p:nvPr/>
        </p:nvSpPr>
        <p:spPr>
          <a:xfrm>
            <a:off x="2870200" y="2006600"/>
            <a:ext cx="2006600" cy="241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60B35A9-0723-E2EE-06B3-B13ED8CA0FAC}"/>
              </a:ext>
            </a:extLst>
          </p:cNvPr>
          <p:cNvSpPr/>
          <p:nvPr/>
        </p:nvSpPr>
        <p:spPr>
          <a:xfrm>
            <a:off x="3543300" y="2286000"/>
            <a:ext cx="635000" cy="635000"/>
          </a:xfrm>
          <a:prstGeom prst="ellipse">
            <a:avLst/>
          </a:prstGeom>
          <a:solidFill>
            <a:srgbClr val="9BC2E6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BBFCB3-EA8A-034F-463A-EA51BF52718A}"/>
              </a:ext>
            </a:extLst>
          </p:cNvPr>
          <p:cNvSpPr txBox="1"/>
          <p:nvPr/>
        </p:nvSpPr>
        <p:spPr>
          <a:xfrm>
            <a:off x="3695700" y="2425700"/>
            <a:ext cx="3048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ko-KR" b="1">
                <a:solidFill>
                  <a:srgbClr val="242424"/>
                </a:solidFill>
                <a:latin typeface="Malgun Gothic" panose="020B0503020000020004" pitchFamily="50" charset="-127"/>
              </a:rPr>
              <a:t>2</a:t>
            </a:r>
            <a:endParaRPr lang="ko-KR" altLang="en-US" b="1">
              <a:solidFill>
                <a:srgbClr val="2424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2FFAC5-F180-6147-47AF-4B54444C1FEF}"/>
              </a:ext>
            </a:extLst>
          </p:cNvPr>
          <p:cNvSpPr txBox="1"/>
          <p:nvPr/>
        </p:nvSpPr>
        <p:spPr>
          <a:xfrm>
            <a:off x="3073400" y="3124200"/>
            <a:ext cx="16002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b="1">
                <a:solidFill>
                  <a:srgbClr val="242424"/>
                </a:solidFill>
                <a:latin typeface="Malgun Gothic" panose="020B0503020000020004" pitchFamily="50" charset="-127"/>
              </a:rPr>
              <a:t>전투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2627FA-5249-1E40-389A-58675C3D387B}"/>
              </a:ext>
            </a:extLst>
          </p:cNvPr>
          <p:cNvSpPr txBox="1"/>
          <p:nvPr/>
        </p:nvSpPr>
        <p:spPr>
          <a:xfrm>
            <a:off x="3098800" y="3632200"/>
            <a:ext cx="15494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300">
                <a:solidFill>
                  <a:srgbClr val="555555"/>
                </a:solidFill>
                <a:latin typeface="Malgun Gothic" panose="020B0503020000020004" pitchFamily="50" charset="-127"/>
              </a:rPr>
              <a:t>먼지</a:t>
            </a:r>
            <a:r>
              <a:rPr lang="en-US" altLang="ko-KR" sz="1300">
                <a:solidFill>
                  <a:srgbClr val="5555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300">
                <a:solidFill>
                  <a:srgbClr val="555555"/>
                </a:solidFill>
                <a:latin typeface="Malgun Gothic" panose="020B0503020000020004" pitchFamily="50" charset="-127"/>
              </a:rPr>
              <a:t>클립 적 처치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5B6E69-72A5-E457-3C48-40214C0CDB3A}"/>
              </a:ext>
            </a:extLst>
          </p:cNvPr>
          <p:cNvSpPr/>
          <p:nvPr/>
        </p:nvSpPr>
        <p:spPr>
          <a:xfrm>
            <a:off x="5181600" y="2006600"/>
            <a:ext cx="2006600" cy="241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5A2F66C-4F9E-8FE7-93E6-927D61C82813}"/>
              </a:ext>
            </a:extLst>
          </p:cNvPr>
          <p:cNvSpPr/>
          <p:nvPr/>
        </p:nvSpPr>
        <p:spPr>
          <a:xfrm>
            <a:off x="5854700" y="2286000"/>
            <a:ext cx="635000" cy="635000"/>
          </a:xfrm>
          <a:prstGeom prst="ellipse">
            <a:avLst/>
          </a:prstGeom>
          <a:solidFill>
            <a:srgbClr val="9BC2E6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7474EE-70C9-2589-4992-CAB0C6D94246}"/>
              </a:ext>
            </a:extLst>
          </p:cNvPr>
          <p:cNvSpPr txBox="1"/>
          <p:nvPr/>
        </p:nvSpPr>
        <p:spPr>
          <a:xfrm>
            <a:off x="6007100" y="2425700"/>
            <a:ext cx="3048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ko-KR" b="1">
                <a:solidFill>
                  <a:srgbClr val="242424"/>
                </a:solidFill>
                <a:latin typeface="Malgun Gothic" panose="020B0503020000020004" pitchFamily="50" charset="-127"/>
              </a:rPr>
              <a:t>3</a:t>
            </a:r>
            <a:endParaRPr lang="ko-KR" altLang="en-US" b="1">
              <a:solidFill>
                <a:srgbClr val="2424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FB05AB-45F8-BC26-8264-681BDA94F1CF}"/>
              </a:ext>
            </a:extLst>
          </p:cNvPr>
          <p:cNvSpPr txBox="1"/>
          <p:nvPr/>
        </p:nvSpPr>
        <p:spPr>
          <a:xfrm>
            <a:off x="5384800" y="3124200"/>
            <a:ext cx="16002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b="1">
                <a:solidFill>
                  <a:srgbClr val="242424"/>
                </a:solidFill>
                <a:latin typeface="Malgun Gothic" panose="020B0503020000020004" pitchFamily="50" charset="-127"/>
              </a:rPr>
              <a:t>보상 선택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E6F4B8-CEA4-B4FE-BFC4-0D62893AF1D0}"/>
              </a:ext>
            </a:extLst>
          </p:cNvPr>
          <p:cNvSpPr txBox="1"/>
          <p:nvPr/>
        </p:nvSpPr>
        <p:spPr>
          <a:xfrm>
            <a:off x="5410200" y="3632200"/>
            <a:ext cx="15494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300">
                <a:solidFill>
                  <a:srgbClr val="555555"/>
                </a:solidFill>
                <a:latin typeface="Malgun Gothic" panose="020B0503020000020004" pitchFamily="50" charset="-127"/>
              </a:rPr>
              <a:t>강화 </a:t>
            </a:r>
            <a:r>
              <a:rPr lang="en-US" altLang="ko-KR" sz="1300">
                <a:solidFill>
                  <a:srgbClr val="555555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300">
                <a:solidFill>
                  <a:srgbClr val="555555"/>
                </a:solidFill>
                <a:latin typeface="Malgun Gothic" panose="020B0503020000020004" pitchFamily="50" charset="-127"/>
              </a:rPr>
              <a:t>개 중 </a:t>
            </a:r>
            <a:r>
              <a:rPr lang="en-US" altLang="ko-KR" sz="1300">
                <a:solidFill>
                  <a:srgbClr val="555555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300">
                <a:solidFill>
                  <a:srgbClr val="555555"/>
                </a:solidFill>
                <a:latin typeface="Malgun Gothic" panose="020B0503020000020004" pitchFamily="50" charset="-127"/>
              </a:rPr>
              <a:t>개 선택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7F9D24C-4828-DA06-36F1-3E09D567CDD7}"/>
              </a:ext>
            </a:extLst>
          </p:cNvPr>
          <p:cNvSpPr/>
          <p:nvPr/>
        </p:nvSpPr>
        <p:spPr>
          <a:xfrm>
            <a:off x="7493000" y="2006600"/>
            <a:ext cx="2006600" cy="241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DCCD539-88E9-5B6D-0C81-7CD4F7BDED1B}"/>
              </a:ext>
            </a:extLst>
          </p:cNvPr>
          <p:cNvSpPr/>
          <p:nvPr/>
        </p:nvSpPr>
        <p:spPr>
          <a:xfrm>
            <a:off x="8166100" y="2286000"/>
            <a:ext cx="635000" cy="635000"/>
          </a:xfrm>
          <a:prstGeom prst="ellipse">
            <a:avLst/>
          </a:prstGeom>
          <a:solidFill>
            <a:srgbClr val="9BC2E6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3FC172-DAE8-8D67-2BB4-3BCB4FB202D9}"/>
              </a:ext>
            </a:extLst>
          </p:cNvPr>
          <p:cNvSpPr txBox="1"/>
          <p:nvPr/>
        </p:nvSpPr>
        <p:spPr>
          <a:xfrm>
            <a:off x="8318500" y="2425700"/>
            <a:ext cx="3048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ko-KR" b="1">
                <a:solidFill>
                  <a:srgbClr val="242424"/>
                </a:solidFill>
                <a:latin typeface="Malgun Gothic" panose="020B0503020000020004" pitchFamily="50" charset="-127"/>
              </a:rPr>
              <a:t>4</a:t>
            </a:r>
            <a:endParaRPr lang="ko-KR" altLang="en-US" b="1">
              <a:solidFill>
                <a:srgbClr val="2424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F16D45-2033-53BB-2D3D-F56CD3DF1DCF}"/>
              </a:ext>
            </a:extLst>
          </p:cNvPr>
          <p:cNvSpPr txBox="1"/>
          <p:nvPr/>
        </p:nvSpPr>
        <p:spPr>
          <a:xfrm>
            <a:off x="7696200" y="3124200"/>
            <a:ext cx="16002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b="1">
                <a:solidFill>
                  <a:srgbClr val="242424"/>
                </a:solidFill>
                <a:latin typeface="Malgun Gothic" panose="020B0503020000020004" pitchFamily="50" charset="-127"/>
              </a:rPr>
              <a:t>다음 구역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FB3A4F-1CBF-E0B4-23F9-F318F59D12BE}"/>
              </a:ext>
            </a:extLst>
          </p:cNvPr>
          <p:cNvSpPr txBox="1"/>
          <p:nvPr/>
        </p:nvSpPr>
        <p:spPr>
          <a:xfrm>
            <a:off x="7721600" y="3632200"/>
            <a:ext cx="15494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300">
                <a:solidFill>
                  <a:srgbClr val="555555"/>
                </a:solidFill>
                <a:latin typeface="Malgun Gothic" panose="020B0503020000020004" pitchFamily="50" charset="-127"/>
              </a:rPr>
              <a:t>키보드</a:t>
            </a:r>
            <a:r>
              <a:rPr lang="en-US" altLang="ko-KR" sz="1300">
                <a:solidFill>
                  <a:srgbClr val="5555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555555"/>
                </a:solidFill>
                <a:latin typeface="Malgun Gothic" panose="020B0503020000020004" pitchFamily="50" charset="-127"/>
              </a:rPr>
              <a:t>노트</a:t>
            </a:r>
            <a:r>
              <a:rPr lang="en-US" altLang="ko-KR" sz="1300">
                <a:solidFill>
                  <a:srgbClr val="5555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555555"/>
                </a:solidFill>
                <a:latin typeface="Malgun Gothic" panose="020B0503020000020004" pitchFamily="50" charset="-127"/>
              </a:rPr>
              <a:t>컵 주변 이동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45057B3-1BDC-4F4B-81B3-3C13EB937747}"/>
              </a:ext>
            </a:extLst>
          </p:cNvPr>
          <p:cNvSpPr/>
          <p:nvPr/>
        </p:nvSpPr>
        <p:spPr>
          <a:xfrm>
            <a:off x="9804400" y="2006600"/>
            <a:ext cx="2006600" cy="241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C411AE79-54B3-2EE5-6F0B-BC4438F8EFE6}"/>
              </a:ext>
            </a:extLst>
          </p:cNvPr>
          <p:cNvSpPr/>
          <p:nvPr/>
        </p:nvSpPr>
        <p:spPr>
          <a:xfrm>
            <a:off x="10477500" y="2286000"/>
            <a:ext cx="635000" cy="635000"/>
          </a:xfrm>
          <a:prstGeom prst="ellipse">
            <a:avLst/>
          </a:prstGeom>
          <a:solidFill>
            <a:srgbClr val="9BC2E6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32C136-DE7D-64DD-A2CD-7390DAA9A86D}"/>
              </a:ext>
            </a:extLst>
          </p:cNvPr>
          <p:cNvSpPr txBox="1"/>
          <p:nvPr/>
        </p:nvSpPr>
        <p:spPr>
          <a:xfrm>
            <a:off x="10629900" y="2425700"/>
            <a:ext cx="3048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ko-KR" b="1">
                <a:solidFill>
                  <a:srgbClr val="242424"/>
                </a:solidFill>
                <a:latin typeface="Malgun Gothic" panose="020B0503020000020004" pitchFamily="50" charset="-127"/>
              </a:rPr>
              <a:t>5</a:t>
            </a:r>
            <a:endParaRPr lang="ko-KR" altLang="en-US" b="1">
              <a:solidFill>
                <a:srgbClr val="2424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6493D4-0CCD-6B81-BB66-30B04A051D5D}"/>
              </a:ext>
            </a:extLst>
          </p:cNvPr>
          <p:cNvSpPr txBox="1"/>
          <p:nvPr/>
        </p:nvSpPr>
        <p:spPr>
          <a:xfrm>
            <a:off x="10007600" y="3124200"/>
            <a:ext cx="16002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b="1">
                <a:solidFill>
                  <a:srgbClr val="242424"/>
                </a:solidFill>
                <a:latin typeface="Malgun Gothic" panose="020B0503020000020004" pitchFamily="50" charset="-127"/>
              </a:rPr>
              <a:t>보스전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245DC9-61CF-B096-813F-F591A9AA318A}"/>
              </a:ext>
            </a:extLst>
          </p:cNvPr>
          <p:cNvSpPr txBox="1"/>
          <p:nvPr/>
        </p:nvSpPr>
        <p:spPr>
          <a:xfrm>
            <a:off x="10033000" y="3632200"/>
            <a:ext cx="15494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300">
                <a:solidFill>
                  <a:srgbClr val="555555"/>
                </a:solidFill>
                <a:latin typeface="Malgun Gothic" panose="020B0503020000020004" pitchFamily="50" charset="-127"/>
              </a:rPr>
              <a:t>스테이플러 보스 격파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4FCC0E-FA16-ACD9-6E1E-E6BCABDAE3A0}"/>
              </a:ext>
            </a:extLst>
          </p:cNvPr>
          <p:cNvSpPr txBox="1"/>
          <p:nvPr/>
        </p:nvSpPr>
        <p:spPr>
          <a:xfrm>
            <a:off x="1143000" y="5156200"/>
            <a:ext cx="9906000" cy="42575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4D4D4D"/>
                </a:solidFill>
                <a:latin typeface="Malgun Gothic" panose="020B0503020000020004" pitchFamily="50" charset="-127"/>
              </a:rPr>
              <a:t>죽으면 처음부터 다시 시작하지만</a:t>
            </a:r>
            <a:r>
              <a:rPr lang="en-US" altLang="ko-KR" sz="2100" b="1">
                <a:solidFill>
                  <a:srgbClr val="4D4D4D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100" b="1">
                <a:solidFill>
                  <a:srgbClr val="4D4D4D"/>
                </a:solidFill>
                <a:latin typeface="Malgun Gothic" panose="020B0503020000020004" pitchFamily="50" charset="-127"/>
              </a:rPr>
              <a:t>플레이 기록과 해금 정보는 저장된다</a:t>
            </a:r>
            <a:r>
              <a:rPr lang="en-US" altLang="ko-KR" sz="2100" b="1">
                <a:solidFill>
                  <a:srgbClr val="4D4D4D"/>
                </a:solidFill>
                <a:latin typeface="Malgun Gothic" panose="020B0503020000020004" pitchFamily="50" charset="-127"/>
              </a:rPr>
              <a:t>.</a:t>
            </a:r>
            <a:endParaRPr lang="ko-KR" altLang="en-US" sz="2100" b="1">
              <a:solidFill>
                <a:srgbClr val="4D4D4D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01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92A081-58B9-0B13-9FED-99B669EAE346}"/>
              </a:ext>
            </a:extLst>
          </p:cNvPr>
          <p:cNvSpPr txBox="1"/>
          <p:nvPr/>
        </p:nvSpPr>
        <p:spPr>
          <a:xfrm>
            <a:off x="533400" y="355600"/>
            <a:ext cx="78740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1300">
                <a:solidFill>
                  <a:srgbClr val="595959"/>
                </a:solidFill>
                <a:latin typeface="Malgun Gothic" panose="020B0503020000020004" pitchFamily="50" charset="-127"/>
              </a:rPr>
              <a:t>TOP-DOWN DESK MAP</a:t>
            </a:r>
            <a:endParaRPr lang="ko-KR" altLang="en-US" sz="1300">
              <a:solidFill>
                <a:srgbClr val="59595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0E4EC0-68B7-D765-FD16-48FA127679EB}"/>
              </a:ext>
            </a:extLst>
          </p:cNvPr>
          <p:cNvSpPr txBox="1"/>
          <p:nvPr/>
        </p:nvSpPr>
        <p:spPr>
          <a:xfrm>
            <a:off x="482600" y="736600"/>
            <a:ext cx="107950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4. </a:t>
            </a:r>
            <a:r>
              <a:rPr lang="ko-KR" altLang="en-US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맵 구성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4C1004-6BC3-3876-A2BD-4D02EBD2C5AF}"/>
              </a:ext>
            </a:extLst>
          </p:cNvPr>
          <p:cNvSpPr/>
          <p:nvPr/>
        </p:nvSpPr>
        <p:spPr>
          <a:xfrm>
            <a:off x="812800" y="1701800"/>
            <a:ext cx="5562600" cy="3860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6047D5-0A48-6059-1A34-6C05069820F6}"/>
              </a:ext>
            </a:extLst>
          </p:cNvPr>
          <p:cNvSpPr/>
          <p:nvPr/>
        </p:nvSpPr>
        <p:spPr>
          <a:xfrm>
            <a:off x="1117600" y="2006600"/>
            <a:ext cx="2133600" cy="990600"/>
          </a:xfrm>
          <a:prstGeom prst="rect">
            <a:avLst/>
          </a:prstGeom>
          <a:solidFill>
            <a:srgbClr val="D3D3D3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237F20-91E7-8CA8-D17F-CB6EC59B58EE}"/>
              </a:ext>
            </a:extLst>
          </p:cNvPr>
          <p:cNvSpPr txBox="1"/>
          <p:nvPr/>
        </p:nvSpPr>
        <p:spPr>
          <a:xfrm>
            <a:off x="1320800" y="2336800"/>
            <a:ext cx="1676400" cy="33342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333333"/>
                </a:solidFill>
                <a:latin typeface="Malgun Gothic" panose="020B0503020000020004" pitchFamily="50" charset="-127"/>
              </a:rPr>
              <a:t>키보드 구역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621A0C1-BC95-3014-13C9-1AAF17896278}"/>
              </a:ext>
            </a:extLst>
          </p:cNvPr>
          <p:cNvSpPr/>
          <p:nvPr/>
        </p:nvSpPr>
        <p:spPr>
          <a:xfrm>
            <a:off x="3581400" y="2006600"/>
            <a:ext cx="2057400" cy="990600"/>
          </a:xfrm>
          <a:prstGeom prst="rect">
            <a:avLst/>
          </a:prstGeom>
          <a:solidFill>
            <a:srgbClr val="E6E6E6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F16BD1-3950-CE7A-3B24-78F5F45B5DCB}"/>
              </a:ext>
            </a:extLst>
          </p:cNvPr>
          <p:cNvSpPr txBox="1"/>
          <p:nvPr/>
        </p:nvSpPr>
        <p:spPr>
          <a:xfrm>
            <a:off x="3860800" y="2336800"/>
            <a:ext cx="1422400" cy="33342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333333"/>
                </a:solidFill>
                <a:latin typeface="Malgun Gothic" panose="020B0503020000020004" pitchFamily="50" charset="-127"/>
              </a:rPr>
              <a:t>노트 구역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AE54E68-23FF-90D7-E35C-DCA5AA589490}"/>
              </a:ext>
            </a:extLst>
          </p:cNvPr>
          <p:cNvSpPr/>
          <p:nvPr/>
        </p:nvSpPr>
        <p:spPr>
          <a:xfrm>
            <a:off x="1117600" y="3327400"/>
            <a:ext cx="2133600" cy="1524000"/>
          </a:xfrm>
          <a:prstGeom prst="rect">
            <a:avLst/>
          </a:prstGeom>
          <a:solidFill>
            <a:srgbClr val="FAFAFA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A661E8-705A-0678-56ED-BC1FB54AD8CB}"/>
              </a:ext>
            </a:extLst>
          </p:cNvPr>
          <p:cNvSpPr txBox="1"/>
          <p:nvPr/>
        </p:nvSpPr>
        <p:spPr>
          <a:xfrm>
            <a:off x="1320800" y="3937000"/>
            <a:ext cx="1676400" cy="33342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333333"/>
                </a:solidFill>
                <a:latin typeface="Malgun Gothic" panose="020B0503020000020004" pitchFamily="50" charset="-127"/>
              </a:rPr>
              <a:t>마우스패드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185D782-B2E4-7FF2-0F33-4E497425DDCB}"/>
              </a:ext>
            </a:extLst>
          </p:cNvPr>
          <p:cNvSpPr/>
          <p:nvPr/>
        </p:nvSpPr>
        <p:spPr>
          <a:xfrm>
            <a:off x="4013200" y="3479800"/>
            <a:ext cx="1066800" cy="1066800"/>
          </a:xfrm>
          <a:prstGeom prst="ellipse">
            <a:avLst/>
          </a:prstGeom>
          <a:solidFill>
            <a:srgbClr val="9BC2E6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E20A96-DF98-0C3C-2B04-A1753409CCEB}"/>
              </a:ext>
            </a:extLst>
          </p:cNvPr>
          <p:cNvSpPr txBox="1"/>
          <p:nvPr/>
        </p:nvSpPr>
        <p:spPr>
          <a:xfrm>
            <a:off x="4140200" y="3860800"/>
            <a:ext cx="812800" cy="33342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333333"/>
                </a:solidFill>
                <a:latin typeface="Malgun Gothic" panose="020B0503020000020004" pitchFamily="50" charset="-127"/>
              </a:rPr>
              <a:t>커피컵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62844A-B5F2-5C89-4A1E-4D8853080DA5}"/>
              </a:ext>
            </a:extLst>
          </p:cNvPr>
          <p:cNvSpPr txBox="1"/>
          <p:nvPr/>
        </p:nvSpPr>
        <p:spPr>
          <a:xfrm>
            <a:off x="5105400" y="4902200"/>
            <a:ext cx="736600" cy="33342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333399"/>
                </a:solidFill>
                <a:latin typeface="Malgun Gothic" panose="020B0503020000020004" pitchFamily="50" charset="-127"/>
              </a:rPr>
              <a:t>보스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8E9DFC-B1C7-0195-EE5D-4C8ACD856D26}"/>
              </a:ext>
            </a:extLst>
          </p:cNvPr>
          <p:cNvSpPr txBox="1"/>
          <p:nvPr/>
        </p:nvSpPr>
        <p:spPr>
          <a:xfrm>
            <a:off x="7112000" y="1930400"/>
            <a:ext cx="4191000" cy="274947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고정 맵 기반으로 구현 부담을 낮춘다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각 구역을 방처럼 취급해 클리어 조건을 만든다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장애물은 키보드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컵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노트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연필 등으로 자연스럽게 배치한다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보상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적 배치를 랜덤화해 로그라이트 느낌을 만든다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.</a:t>
            </a:r>
            <a:endParaRPr lang="ko-KR" altLang="en-US" sz="1900">
              <a:solidFill>
                <a:srgbClr val="333333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5288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ADEBDD-524C-6148-D021-6B86DD8677FD}"/>
              </a:ext>
            </a:extLst>
          </p:cNvPr>
          <p:cNvSpPr txBox="1"/>
          <p:nvPr/>
        </p:nvSpPr>
        <p:spPr>
          <a:xfrm>
            <a:off x="533400" y="355600"/>
            <a:ext cx="78740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1300">
                <a:solidFill>
                  <a:srgbClr val="595959"/>
                </a:solidFill>
                <a:latin typeface="Malgun Gothic" panose="020B0503020000020004" pitchFamily="50" charset="-127"/>
              </a:rPr>
              <a:t>ENEMIES</a:t>
            </a:r>
            <a:endParaRPr lang="ko-KR" altLang="en-US" sz="1300">
              <a:solidFill>
                <a:srgbClr val="59595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DB7B1F-E709-BA97-398C-9DF5041334C3}"/>
              </a:ext>
            </a:extLst>
          </p:cNvPr>
          <p:cNvSpPr txBox="1"/>
          <p:nvPr/>
        </p:nvSpPr>
        <p:spPr>
          <a:xfrm>
            <a:off x="482600" y="736600"/>
            <a:ext cx="107950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5. </a:t>
            </a:r>
            <a:r>
              <a:rPr lang="ko-KR" altLang="en-US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적과 보스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D11076-E464-05C4-B3BB-CCA42A36B411}"/>
              </a:ext>
            </a:extLst>
          </p:cNvPr>
          <p:cNvSpPr txBox="1"/>
          <p:nvPr/>
        </p:nvSpPr>
        <p:spPr>
          <a:xfrm>
            <a:off x="736600" y="1752600"/>
            <a:ext cx="5842000" cy="226728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먼지 뭉치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플레이어를 천천히 추적하는 기본 적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클립 벌레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가까워지면 짧게 돌진하는 적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USB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오류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멀리서 느린 탄환을 발사하는 원거리 적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지우개 가루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체력이 높고 접촉 피해가 큰 탱커 적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보스 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스테이플러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탄환 발사와 돌진 패턴을 번갈아 사용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F6571C7-A93E-7189-C742-2A3B5A74BD3A}"/>
              </a:ext>
            </a:extLst>
          </p:cNvPr>
          <p:cNvSpPr/>
          <p:nvPr/>
        </p:nvSpPr>
        <p:spPr>
          <a:xfrm>
            <a:off x="7442200" y="1854200"/>
            <a:ext cx="3175000" cy="2921000"/>
          </a:xfrm>
          <a:prstGeom prst="rect">
            <a:avLst/>
          </a:prstGeom>
          <a:solidFill>
            <a:srgbClr val="242424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D476BE-B2B5-0556-94C7-17D0D22AFCB0}"/>
              </a:ext>
            </a:extLst>
          </p:cNvPr>
          <p:cNvSpPr/>
          <p:nvPr/>
        </p:nvSpPr>
        <p:spPr>
          <a:xfrm>
            <a:off x="8001000" y="2514600"/>
            <a:ext cx="2057400" cy="787400"/>
          </a:xfrm>
          <a:prstGeom prst="rect">
            <a:avLst/>
          </a:prstGeom>
          <a:solidFill>
            <a:srgbClr val="9BC2E6"/>
          </a:solidFill>
          <a:ln w="15875">
            <a:solidFill>
              <a:srgbClr val="AAAA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8B54D0-3FB7-E5AB-DA78-C623E35CFB68}"/>
              </a:ext>
            </a:extLst>
          </p:cNvPr>
          <p:cNvSpPr/>
          <p:nvPr/>
        </p:nvSpPr>
        <p:spPr>
          <a:xfrm>
            <a:off x="8305800" y="3302000"/>
            <a:ext cx="1498600" cy="406400"/>
          </a:xfrm>
          <a:prstGeom prst="rect">
            <a:avLst/>
          </a:prstGeom>
          <a:solidFill>
            <a:srgbClr val="333399"/>
          </a:solidFill>
          <a:ln w="15875">
            <a:solidFill>
              <a:srgbClr val="333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CF86A3-0F05-4F63-19D0-8591780012DC}"/>
              </a:ext>
            </a:extLst>
          </p:cNvPr>
          <p:cNvSpPr txBox="1"/>
          <p:nvPr/>
        </p:nvSpPr>
        <p:spPr>
          <a:xfrm>
            <a:off x="7899400" y="4064000"/>
            <a:ext cx="22606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ko-KR" b="1">
                <a:solidFill>
                  <a:srgbClr val="FFFFFF"/>
                </a:solidFill>
                <a:latin typeface="Malgun Gothic" panose="020B0503020000020004" pitchFamily="50" charset="-127"/>
              </a:rPr>
              <a:t>STAPLER BOSS</a:t>
            </a:r>
            <a:endParaRPr lang="ko-KR" altLang="en-US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F5E38B-DC83-64D2-1F81-676B0232C596}"/>
              </a:ext>
            </a:extLst>
          </p:cNvPr>
          <p:cNvSpPr txBox="1"/>
          <p:nvPr/>
        </p:nvSpPr>
        <p:spPr>
          <a:xfrm>
            <a:off x="7010400" y="5207000"/>
            <a:ext cx="4191000" cy="62581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700" b="1">
                <a:solidFill>
                  <a:srgbClr val="4D4D4D"/>
                </a:solidFill>
                <a:latin typeface="Malgun Gothic" panose="020B0503020000020004" pitchFamily="50" charset="-127"/>
              </a:rPr>
              <a:t>보스 패턴은 </a:t>
            </a:r>
            <a:r>
              <a:rPr lang="en-US" altLang="ko-KR" sz="1700" b="1">
                <a:solidFill>
                  <a:srgbClr val="4D4D4D"/>
                </a:solidFill>
                <a:latin typeface="Malgun Gothic" panose="020B0503020000020004" pitchFamily="50" charset="-127"/>
              </a:rPr>
              <a:t>2</a:t>
            </a:r>
            <a:r>
              <a:rPr lang="ko-KR" altLang="en-US" sz="1700" b="1">
                <a:solidFill>
                  <a:srgbClr val="4D4D4D"/>
                </a:solidFill>
                <a:latin typeface="Malgun Gothic" panose="020B0503020000020004" pitchFamily="50" charset="-127"/>
              </a:rPr>
              <a:t>개만 사용해도 충분히 완성도 있게 보인다</a:t>
            </a:r>
            <a:r>
              <a:rPr lang="en-US" altLang="ko-KR" sz="1700" b="1">
                <a:solidFill>
                  <a:srgbClr val="4D4D4D"/>
                </a:solidFill>
                <a:latin typeface="Malgun Gothic" panose="020B0503020000020004" pitchFamily="50" charset="-127"/>
              </a:rPr>
              <a:t>.</a:t>
            </a:r>
            <a:endParaRPr lang="ko-KR" altLang="en-US" sz="1700" b="1">
              <a:solidFill>
                <a:srgbClr val="4D4D4D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8450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6D88BC-CA3E-45B3-E6CF-484A1F4FDC6B}"/>
              </a:ext>
            </a:extLst>
          </p:cNvPr>
          <p:cNvSpPr txBox="1"/>
          <p:nvPr/>
        </p:nvSpPr>
        <p:spPr>
          <a:xfrm>
            <a:off x="533400" y="355600"/>
            <a:ext cx="78740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1300">
                <a:solidFill>
                  <a:srgbClr val="595959"/>
                </a:solidFill>
                <a:latin typeface="Malgun Gothic" panose="020B0503020000020004" pitchFamily="50" charset="-127"/>
              </a:rPr>
              <a:t>ROGUELITE BUILD</a:t>
            </a:r>
            <a:endParaRPr lang="ko-KR" altLang="en-US" sz="1300">
              <a:solidFill>
                <a:srgbClr val="59595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9CDE56-D5EA-4E29-80FA-D6950CE38881}"/>
              </a:ext>
            </a:extLst>
          </p:cNvPr>
          <p:cNvSpPr txBox="1"/>
          <p:nvPr/>
        </p:nvSpPr>
        <p:spPr>
          <a:xfrm>
            <a:off x="482600" y="736600"/>
            <a:ext cx="107950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6. </a:t>
            </a:r>
            <a:r>
              <a:rPr lang="ko-KR" altLang="en-US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아이템과 성장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4A47E6-371E-6C11-E015-A4647AE97B7E}"/>
              </a:ext>
            </a:extLst>
          </p:cNvPr>
          <p:cNvSpPr/>
          <p:nvPr/>
        </p:nvSpPr>
        <p:spPr>
          <a:xfrm>
            <a:off x="736600" y="1676400"/>
            <a:ext cx="3175000" cy="317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943023-A2BD-A477-15B2-A50B3190EEBB}"/>
              </a:ext>
            </a:extLst>
          </p:cNvPr>
          <p:cNvSpPr/>
          <p:nvPr/>
        </p:nvSpPr>
        <p:spPr>
          <a:xfrm>
            <a:off x="4521200" y="1676400"/>
            <a:ext cx="3175000" cy="317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69B828-075B-B887-E9DA-6246DCB81071}"/>
              </a:ext>
            </a:extLst>
          </p:cNvPr>
          <p:cNvSpPr/>
          <p:nvPr/>
        </p:nvSpPr>
        <p:spPr>
          <a:xfrm>
            <a:off x="8305800" y="1676400"/>
            <a:ext cx="3175000" cy="317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941842-FD40-39F7-A059-AA3782D857AE}"/>
              </a:ext>
            </a:extLst>
          </p:cNvPr>
          <p:cNvSpPr txBox="1"/>
          <p:nvPr/>
        </p:nvSpPr>
        <p:spPr>
          <a:xfrm>
            <a:off x="1168400" y="2006600"/>
            <a:ext cx="2286000" cy="42575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242424"/>
                </a:solidFill>
                <a:latin typeface="Malgun Gothic" panose="020B0503020000020004" pitchFamily="50" charset="-127"/>
              </a:rPr>
              <a:t>샤프심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C59BDC-2E5D-ADC7-6DE8-DFE50B4929F0}"/>
              </a:ext>
            </a:extLst>
          </p:cNvPr>
          <p:cNvSpPr txBox="1"/>
          <p:nvPr/>
        </p:nvSpPr>
        <p:spPr>
          <a:xfrm>
            <a:off x="1168400" y="2768600"/>
            <a:ext cx="2286000" cy="62581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공격력 증가</a:t>
            </a:r>
          </a:p>
          <a:p>
            <a:pPr algn="ctr"/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탄환 크기 증가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C3B37-14FC-21EE-8BC4-67052B1197F8}"/>
              </a:ext>
            </a:extLst>
          </p:cNvPr>
          <p:cNvSpPr txBox="1"/>
          <p:nvPr/>
        </p:nvSpPr>
        <p:spPr>
          <a:xfrm>
            <a:off x="4953000" y="2006600"/>
            <a:ext cx="2286000" cy="42575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242424"/>
                </a:solidFill>
                <a:latin typeface="Malgun Gothic" panose="020B0503020000020004" pitchFamily="50" charset="-127"/>
              </a:rPr>
              <a:t>커피 방울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AC386C-9B34-EF6B-AA9A-DC67D6868D44}"/>
              </a:ext>
            </a:extLst>
          </p:cNvPr>
          <p:cNvSpPr txBox="1"/>
          <p:nvPr/>
        </p:nvSpPr>
        <p:spPr>
          <a:xfrm>
            <a:off x="4953000" y="2768600"/>
            <a:ext cx="2286000" cy="62581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이동속도 증가</a:t>
            </a:r>
          </a:p>
          <a:p>
            <a:pPr algn="ctr"/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대시 쿨타임 감소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022F96-9070-3A59-FCE6-90C8498FC16C}"/>
              </a:ext>
            </a:extLst>
          </p:cNvPr>
          <p:cNvSpPr txBox="1"/>
          <p:nvPr/>
        </p:nvSpPr>
        <p:spPr>
          <a:xfrm>
            <a:off x="8737600" y="2006600"/>
            <a:ext cx="2286000" cy="42575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242424"/>
                </a:solidFill>
                <a:latin typeface="Malgun Gothic" panose="020B0503020000020004" pitchFamily="50" charset="-127"/>
              </a:rPr>
              <a:t>포스트잇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B39400-B52C-EDE6-A5BE-7F643DDDAE53}"/>
              </a:ext>
            </a:extLst>
          </p:cNvPr>
          <p:cNvSpPr txBox="1"/>
          <p:nvPr/>
        </p:nvSpPr>
        <p:spPr>
          <a:xfrm>
            <a:off x="8737600" y="2768600"/>
            <a:ext cx="2286000" cy="62581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추가 탄환 발사</a:t>
            </a:r>
          </a:p>
          <a:p>
            <a:pPr algn="ctr"/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공격 범위 증가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2BA518-C76D-873B-A0E3-3B4555F5A2E6}"/>
              </a:ext>
            </a:extLst>
          </p:cNvPr>
          <p:cNvSpPr txBox="1"/>
          <p:nvPr/>
        </p:nvSpPr>
        <p:spPr>
          <a:xfrm>
            <a:off x="1041400" y="5384800"/>
            <a:ext cx="10160000" cy="71814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방 클리어마다 </a:t>
            </a:r>
            <a:r>
              <a:rPr lang="en-US" altLang="ko-KR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개의 랜덤 강화 중 하나를 고르며</a:t>
            </a:r>
            <a:r>
              <a:rPr lang="en-US" altLang="ko-KR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선택에 따라 플레이 스타일이 달라진다</a:t>
            </a:r>
            <a:r>
              <a:rPr lang="en-US" altLang="ko-KR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.</a:t>
            </a:r>
            <a:endParaRPr lang="ko-KR" altLang="en-US" sz="2000" b="1">
              <a:solidFill>
                <a:srgbClr val="4D4D4D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166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BEE31F-686C-BE29-88D3-EDD7E2650E89}"/>
              </a:ext>
            </a:extLst>
          </p:cNvPr>
          <p:cNvSpPr txBox="1"/>
          <p:nvPr/>
        </p:nvSpPr>
        <p:spPr>
          <a:xfrm>
            <a:off x="533400" y="355600"/>
            <a:ext cx="78740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1300">
                <a:solidFill>
                  <a:srgbClr val="595959"/>
                </a:solidFill>
                <a:latin typeface="Malgun Gothic" panose="020B0503020000020004" pitchFamily="50" charset="-127"/>
              </a:rPr>
              <a:t>WHY ROGUELITE</a:t>
            </a:r>
            <a:endParaRPr lang="ko-KR" altLang="en-US" sz="1300">
              <a:solidFill>
                <a:srgbClr val="59595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FE2A23-2EB9-1218-BDB2-FCB4F4BA0D19}"/>
              </a:ext>
            </a:extLst>
          </p:cNvPr>
          <p:cNvSpPr txBox="1"/>
          <p:nvPr/>
        </p:nvSpPr>
        <p:spPr>
          <a:xfrm>
            <a:off x="482600" y="736600"/>
            <a:ext cx="107950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7. </a:t>
            </a:r>
            <a:r>
              <a:rPr lang="ko-KR" altLang="en-US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로그라이트 요소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0528B7-4CED-0832-FD73-3E29E7011B30}"/>
              </a:ext>
            </a:extLst>
          </p:cNvPr>
          <p:cNvSpPr txBox="1"/>
          <p:nvPr/>
        </p:nvSpPr>
        <p:spPr>
          <a:xfrm>
            <a:off x="863600" y="1727200"/>
            <a:ext cx="5969000" cy="226728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죽으면 처음부터 다시 시작하는 런 기반 구조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방 클리어 보상 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택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로 매판 다른 성장 경로 제공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적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아이템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보상 등장 순서를 일부 랜덤화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클리어 시간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처치 수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최고 단계 등 기록 저장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반복 플레이를 통해 새 아이템 이름 또는 보스 힌트 해금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5B59A7-9D5E-B3F3-1231-D41C802122CB}"/>
              </a:ext>
            </a:extLst>
          </p:cNvPr>
          <p:cNvSpPr/>
          <p:nvPr/>
        </p:nvSpPr>
        <p:spPr>
          <a:xfrm>
            <a:off x="7747000" y="1854200"/>
            <a:ext cx="3175000" cy="3175000"/>
          </a:xfrm>
          <a:prstGeom prst="rect">
            <a:avLst/>
          </a:prstGeom>
          <a:solidFill>
            <a:srgbClr val="242424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3656E6-B0D4-AE01-B781-5C4E730F92C7}"/>
              </a:ext>
            </a:extLst>
          </p:cNvPr>
          <p:cNvSpPr txBox="1"/>
          <p:nvPr/>
        </p:nvSpPr>
        <p:spPr>
          <a:xfrm>
            <a:off x="8051800" y="2794000"/>
            <a:ext cx="2590800" cy="163121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500" b="1">
                <a:solidFill>
                  <a:srgbClr val="FFFFFF"/>
                </a:solidFill>
                <a:latin typeface="Malgun Gothic" panose="020B0503020000020004" pitchFamily="50" charset="-127"/>
              </a:rPr>
              <a:t>핵심은 랜덤 맵이 아니라</a:t>
            </a:r>
          </a:p>
          <a:p>
            <a:pPr algn="ctr"/>
            <a:r>
              <a:rPr lang="ko-KR" altLang="en-US" sz="2500" b="1">
                <a:solidFill>
                  <a:srgbClr val="FFFFFF"/>
                </a:solidFill>
                <a:latin typeface="Malgun Gothic" panose="020B0503020000020004" pitchFamily="50" charset="-127"/>
              </a:rPr>
              <a:t>랜덤 선택과 빌드 변화</a:t>
            </a:r>
          </a:p>
        </p:txBody>
      </p:sp>
    </p:spTree>
    <p:extLst>
      <p:ext uri="{BB962C8B-B14F-4D97-AF65-F5344CB8AC3E}">
        <p14:creationId xmlns:p14="http://schemas.microsoft.com/office/powerpoint/2010/main" val="2428300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BD656D-6F80-0B61-0358-29CC447D01AE}"/>
              </a:ext>
            </a:extLst>
          </p:cNvPr>
          <p:cNvSpPr txBox="1"/>
          <p:nvPr/>
        </p:nvSpPr>
        <p:spPr>
          <a:xfrm>
            <a:off x="533400" y="355600"/>
            <a:ext cx="78740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1300">
                <a:solidFill>
                  <a:srgbClr val="595959"/>
                </a:solidFill>
                <a:latin typeface="Malgun Gothic" panose="020B0503020000020004" pitchFamily="50" charset="-127"/>
              </a:rPr>
              <a:t>IMPLEMENTATION</a:t>
            </a:r>
            <a:endParaRPr lang="ko-KR" altLang="en-US" sz="1300">
              <a:solidFill>
                <a:srgbClr val="59595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A890A7-5420-4E0C-56A6-7C4B2AD5F02C}"/>
              </a:ext>
            </a:extLst>
          </p:cNvPr>
          <p:cNvSpPr txBox="1"/>
          <p:nvPr/>
        </p:nvSpPr>
        <p:spPr>
          <a:xfrm>
            <a:off x="482600" y="736600"/>
            <a:ext cx="107950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8. </a:t>
            </a:r>
            <a:r>
              <a:rPr lang="ko-KR" altLang="en-US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기술 구현 계획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B0FAF0-5568-B6DC-3A72-A5813A38E5D7}"/>
              </a:ext>
            </a:extLst>
          </p:cNvPr>
          <p:cNvSpPr txBox="1"/>
          <p:nvPr/>
        </p:nvSpPr>
        <p:spPr>
          <a:xfrm>
            <a:off x="762000" y="1676400"/>
            <a:ext cx="6477000" cy="23698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Tilemap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또는 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Sprite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기반 탑뷰 맵 구성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플레이어 이동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대시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마우스 방향 공격 구현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적 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AI: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추적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돌진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원거리 발사 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종 패턴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ScriptableObject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로 적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아이템 데이터 관리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JSON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또는 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PlayerPrefs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로 최고 기록과 설정 저장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UI: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체력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현재 강화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방 진행도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사망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클리어 화면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B49734B-D236-BD73-8AD6-9C0E75C988FA}"/>
              </a:ext>
            </a:extLst>
          </p:cNvPr>
          <p:cNvSpPr/>
          <p:nvPr/>
        </p:nvSpPr>
        <p:spPr>
          <a:xfrm>
            <a:off x="7950200" y="1803400"/>
            <a:ext cx="3098800" cy="3276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BE5CE5-15BA-D481-3795-D96F721580A5}"/>
              </a:ext>
            </a:extLst>
          </p:cNvPr>
          <p:cNvSpPr txBox="1"/>
          <p:nvPr/>
        </p:nvSpPr>
        <p:spPr>
          <a:xfrm>
            <a:off x="8331200" y="2159000"/>
            <a:ext cx="23368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구현 우선순위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DDE34C-6E06-7833-6FF2-75446AB21D3A}"/>
              </a:ext>
            </a:extLst>
          </p:cNvPr>
          <p:cNvSpPr txBox="1"/>
          <p:nvPr/>
        </p:nvSpPr>
        <p:spPr>
          <a:xfrm>
            <a:off x="8458200" y="2819400"/>
            <a:ext cx="2082800" cy="166199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1700">
                <a:solidFill>
                  <a:srgbClr val="333333"/>
                </a:solidFill>
                <a:latin typeface="Malgun Gothic" panose="020B0503020000020004" pitchFamily="50" charset="-127"/>
              </a:rPr>
              <a:t>1. </a:t>
            </a:r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이동</a:t>
            </a:r>
            <a:r>
              <a:rPr lang="en-US" altLang="ko-KR" sz="1700">
                <a:solidFill>
                  <a:srgbClr val="333333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공격</a:t>
            </a:r>
          </a:p>
          <a:p>
            <a:r>
              <a:rPr lang="en-US" altLang="ko-KR" sz="1700">
                <a:solidFill>
                  <a:srgbClr val="333333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적 추적</a:t>
            </a:r>
          </a:p>
          <a:p>
            <a:r>
              <a:rPr lang="en-US" altLang="ko-KR" sz="1700">
                <a:solidFill>
                  <a:srgbClr val="333333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방 클리어</a:t>
            </a:r>
          </a:p>
          <a:p>
            <a:r>
              <a:rPr lang="en-US" altLang="ko-KR" sz="1700">
                <a:solidFill>
                  <a:srgbClr val="333333"/>
                </a:solidFill>
                <a:latin typeface="Malgun Gothic" panose="020B0503020000020004" pitchFamily="50" charset="-127"/>
              </a:rPr>
              <a:t>4. </a:t>
            </a:r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보상 선택</a:t>
            </a:r>
          </a:p>
          <a:p>
            <a:r>
              <a:rPr lang="en-US" altLang="ko-KR" sz="1700">
                <a:solidFill>
                  <a:srgbClr val="333333"/>
                </a:solidFill>
                <a:latin typeface="Malgun Gothic" panose="020B0503020000020004" pitchFamily="50" charset="-127"/>
              </a:rPr>
              <a:t>5. </a:t>
            </a:r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보스전</a:t>
            </a:r>
          </a:p>
          <a:p>
            <a:r>
              <a:rPr lang="en-US" altLang="ko-KR" sz="1700">
                <a:solidFill>
                  <a:srgbClr val="333333"/>
                </a:solidFill>
                <a:latin typeface="Malgun Gothic" panose="020B0503020000020004" pitchFamily="50" charset="-127"/>
              </a:rPr>
              <a:t>6. </a:t>
            </a:r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저장</a:t>
            </a:r>
            <a:r>
              <a:rPr lang="en-US" altLang="ko-KR" sz="1700">
                <a:solidFill>
                  <a:srgbClr val="333333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폴리시</a:t>
            </a:r>
          </a:p>
        </p:txBody>
      </p:sp>
    </p:spTree>
    <p:extLst>
      <p:ext uri="{BB962C8B-B14F-4D97-AF65-F5344CB8AC3E}">
        <p14:creationId xmlns:p14="http://schemas.microsoft.com/office/powerpoint/2010/main" val="2088470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62C162-C398-037F-1646-561B16565A11}"/>
              </a:ext>
            </a:extLst>
          </p:cNvPr>
          <p:cNvSpPr txBox="1"/>
          <p:nvPr/>
        </p:nvSpPr>
        <p:spPr>
          <a:xfrm>
            <a:off x="533400" y="355600"/>
            <a:ext cx="78740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1300">
                <a:solidFill>
                  <a:srgbClr val="595959"/>
                </a:solidFill>
                <a:latin typeface="Malgun Gothic" panose="020B0503020000020004" pitchFamily="50" charset="-127"/>
              </a:rPr>
              <a:t>SCOPE</a:t>
            </a:r>
            <a:endParaRPr lang="ko-KR" altLang="en-US" sz="1300">
              <a:solidFill>
                <a:srgbClr val="59595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ECE23D-6761-18F7-6374-5DCC78747767}"/>
              </a:ext>
            </a:extLst>
          </p:cNvPr>
          <p:cNvSpPr txBox="1"/>
          <p:nvPr/>
        </p:nvSpPr>
        <p:spPr>
          <a:xfrm>
            <a:off x="482600" y="736600"/>
            <a:ext cx="107950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9. </a:t>
            </a:r>
            <a:r>
              <a:rPr lang="ko-KR" altLang="en-US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프로토타입 완성 범위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199081E-D9BA-0C20-D16A-BE47B5B0D54B}"/>
              </a:ext>
            </a:extLst>
          </p:cNvPr>
          <p:cNvSpPr/>
          <p:nvPr/>
        </p:nvSpPr>
        <p:spPr>
          <a:xfrm>
            <a:off x="787400" y="1727200"/>
            <a:ext cx="4851400" cy="3632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7FC6AF-7334-8E48-62D8-A01C0A5AED62}"/>
              </a:ext>
            </a:extLst>
          </p:cNvPr>
          <p:cNvSpPr txBox="1"/>
          <p:nvPr/>
        </p:nvSpPr>
        <p:spPr>
          <a:xfrm>
            <a:off x="1143000" y="2082800"/>
            <a:ext cx="25400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ko-KR" altLang="en-US" sz="2200" b="1">
                <a:solidFill>
                  <a:srgbClr val="242424"/>
                </a:solidFill>
                <a:latin typeface="Malgun Gothic" panose="020B0503020000020004" pitchFamily="50" charset="-127"/>
              </a:rPr>
              <a:t>필수 구현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7ED309-59F7-E14C-3996-6C72585541F5}"/>
              </a:ext>
            </a:extLst>
          </p:cNvPr>
          <p:cNvSpPr txBox="1"/>
          <p:nvPr/>
        </p:nvSpPr>
        <p:spPr>
          <a:xfrm>
            <a:off x="1143000" y="2717800"/>
            <a:ext cx="3810000" cy="19749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플레이어 이동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공격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적 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종 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+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보스 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종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방 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5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개 구성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보상 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택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1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시스템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사망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클리어 화면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8E9D200-3CB5-86F4-FE71-4B879DA44DBF}"/>
              </a:ext>
            </a:extLst>
          </p:cNvPr>
          <p:cNvSpPr/>
          <p:nvPr/>
        </p:nvSpPr>
        <p:spPr>
          <a:xfrm>
            <a:off x="6553200" y="1727200"/>
            <a:ext cx="4851400" cy="3632200"/>
          </a:xfrm>
          <a:prstGeom prst="rect">
            <a:avLst/>
          </a:prstGeom>
          <a:solidFill>
            <a:srgbClr val="242424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D3E728-21D0-B8AA-5935-D1582A9770D6}"/>
              </a:ext>
            </a:extLst>
          </p:cNvPr>
          <p:cNvSpPr txBox="1"/>
          <p:nvPr/>
        </p:nvSpPr>
        <p:spPr>
          <a:xfrm>
            <a:off x="6908800" y="2082800"/>
            <a:ext cx="25400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ko-KR" altLang="en-US" sz="2200" b="1">
                <a:solidFill>
                  <a:srgbClr val="9BC2E6"/>
                </a:solidFill>
                <a:latin typeface="Malgun Gothic" panose="020B0503020000020004" pitchFamily="50" charset="-127"/>
              </a:rPr>
              <a:t>추가 목표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08A924-6A61-C034-0568-EB3D946F2F81}"/>
              </a:ext>
            </a:extLst>
          </p:cNvPr>
          <p:cNvSpPr txBox="1"/>
          <p:nvPr/>
        </p:nvSpPr>
        <p:spPr>
          <a:xfrm>
            <a:off x="6959600" y="2870200"/>
            <a:ext cx="3708400" cy="132343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ko-KR" altLang="en-US" sz="2000">
                <a:solidFill>
                  <a:srgbClr val="FFFFFF"/>
                </a:solidFill>
                <a:latin typeface="Malgun Gothic" panose="020B0503020000020004" pitchFamily="50" charset="-127"/>
              </a:rPr>
              <a:t>시간이 남으면 아이템 종류 추가</a:t>
            </a:r>
            <a:r>
              <a:rPr lang="en-US" altLang="ko-KR" sz="2000">
                <a:solidFill>
                  <a:srgbClr val="FFFFFF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FFFFFF"/>
                </a:solidFill>
                <a:latin typeface="Malgun Gothic" panose="020B0503020000020004" pitchFamily="50" charset="-127"/>
              </a:rPr>
              <a:t>간단한 사운드</a:t>
            </a:r>
            <a:r>
              <a:rPr lang="en-US" altLang="ko-KR" sz="2000">
                <a:solidFill>
                  <a:srgbClr val="FFFFFF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FFFFFF"/>
                </a:solidFill>
                <a:latin typeface="Malgun Gothic" panose="020B0503020000020004" pitchFamily="50" charset="-127"/>
              </a:rPr>
              <a:t>피격 이펙트</a:t>
            </a:r>
            <a:r>
              <a:rPr lang="en-US" altLang="ko-KR" sz="2000">
                <a:solidFill>
                  <a:srgbClr val="FFFFFF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FFFFFF"/>
                </a:solidFill>
                <a:latin typeface="Malgun Gothic" panose="020B0503020000020004" pitchFamily="50" charset="-127"/>
              </a:rPr>
              <a:t>기록 저장</a:t>
            </a:r>
            <a:r>
              <a:rPr lang="en-US" altLang="ko-KR" sz="2000">
                <a:solidFill>
                  <a:srgbClr val="FFFFFF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FFFFFF"/>
                </a:solidFill>
                <a:latin typeface="Malgun Gothic" panose="020B0503020000020004" pitchFamily="50" charset="-127"/>
              </a:rPr>
              <a:t>보스 패턴 추가를 진행한다</a:t>
            </a:r>
            <a:r>
              <a:rPr lang="en-US" altLang="ko-KR" sz="2000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D20365-5547-2513-60F9-96B44BCE4A1A}"/>
              </a:ext>
            </a:extLst>
          </p:cNvPr>
          <p:cNvSpPr txBox="1"/>
          <p:nvPr/>
        </p:nvSpPr>
        <p:spPr>
          <a:xfrm>
            <a:off x="1219200" y="5791200"/>
            <a:ext cx="96520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4D4D4D"/>
                </a:solidFill>
                <a:latin typeface="Malgun Gothic" panose="020B0503020000020004" pitchFamily="50" charset="-127"/>
              </a:rPr>
              <a:t>작게 완성하고</a:t>
            </a:r>
            <a:r>
              <a:rPr lang="en-US" altLang="ko-KR" sz="2200" b="1">
                <a:solidFill>
                  <a:srgbClr val="4D4D4D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200" b="1">
                <a:solidFill>
                  <a:srgbClr val="4D4D4D"/>
                </a:solidFill>
                <a:latin typeface="Malgun Gothic" panose="020B0503020000020004" pitchFamily="50" charset="-127"/>
              </a:rPr>
              <a:t>반복 플레이의 재미를 먼저 확보한다</a:t>
            </a:r>
            <a:r>
              <a:rPr lang="en-US" altLang="ko-KR" sz="2200" b="1">
                <a:solidFill>
                  <a:srgbClr val="4D4D4D"/>
                </a:solidFill>
                <a:latin typeface="Malgun Gothic" panose="020B0503020000020004" pitchFamily="50" charset="-127"/>
              </a:rPr>
              <a:t>.</a:t>
            </a:r>
            <a:endParaRPr lang="ko-KR" altLang="en-US" sz="2200" b="1">
              <a:solidFill>
                <a:srgbClr val="4D4D4D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537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602</Words>
  <Application>Microsoft Office PowerPoint</Application>
  <PresentationFormat>사용자 지정</PresentationFormat>
  <Paragraphs>108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태형 조</dc:creator>
  <cp:lastModifiedBy>태형 조</cp:lastModifiedBy>
  <cp:revision>1</cp:revision>
  <dcterms:created xsi:type="dcterms:W3CDTF">2026-05-20T14:25:15Z</dcterms:created>
  <dcterms:modified xsi:type="dcterms:W3CDTF">2026-05-20T14:25:15Z</dcterms:modified>
</cp:coreProperties>
</file>